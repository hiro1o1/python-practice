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23"/>
    <p:sldId id="265" r:id="rId11"/>
    <p:sldId id="275" r:id="rId25"/>
    <p:sldId id="266" r:id="rId12"/>
    <p:sldId id="267" r:id="rId13"/>
    <p:sldId id="274" r:id="rId24"/>
    <p:sldId id="268" r:id="rId14"/>
    <p:sldId id="269" r:id="rId15"/>
    <p:sldId id="270" r:id="rId16"/>
    <p:sldId id="271" r:id="rId17"/>
    <p:sldId id="272" r:id="rId18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44" y="-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0.xml"/><Relationship Id="rId24" Type="http://schemas.openxmlformats.org/officeDocument/2006/relationships/slide" Target="slides/slide15.xml"/><Relationship Id="rId25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4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40.jpg"/><Relationship Id="rId6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Admin@xyc-ltd.com" TargetMode="External"/><Relationship Id="rId3" Type="http://schemas.openxmlformats.org/officeDocument/2006/relationships/hyperlink" Target="mailto:Antony@xyc-ltd.com" TargetMode="External"/><Relationship Id="rId4" Type="http://schemas.openxmlformats.org/officeDocument/2006/relationships/hyperlink" Target="https://www.interactiveswhiteboard.com/" TargetMode="External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76000" y="720000"/>
            <a:ext cx="640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00" b="0" cap="all" spc="100" dirty="0">
                <a:solidFill>
                  <a:srgbClr val="6CC8EC"/>
                </a:solidFill>
                <a:latin typeface="Segoe UI Semibold"/>
              </a:rPr>
              <a:t>Premium Displays &amp; Visual Technology Solutions</a:t>
            </a:r>
          </a:p>
        </p:txBody>
      </p:sp>
      <p:sp>
        <p:nvSpPr>
          <p:cNvPr id="3" name="Cover title"/>
          <p:cNvSpPr txBox="1"/>
          <p:nvPr/>
        </p:nvSpPr>
        <p:spPr>
          <a:xfrm>
            <a:off x="576000" y="1044000"/>
            <a:ext cx="6408000" cy="20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lang="en-US" sz="6400" b="0" dirty="0">
                <a:solidFill>
                  <a:srgbClr val="FFFFFF"/>
                </a:solidFill>
                <a:latin typeface="Segoe UI Semibold"/>
              </a:rPr>
              <a:t>Product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lang="en-US" sz="6400" b="0" dirty="0">
                <a:solidFill>
                  <a:srgbClr val="FFFFFF"/>
                </a:solidFill>
                <a:latin typeface="Segoe UI Semibold"/>
              </a:rPr>
              <a:t>Catalog </a:t>
            </a:r>
            <a:r>
              <a:rPr lang="en-US" sz="6400" b="0" dirty="0">
                <a:solidFill>
                  <a:srgbClr val="6CC8EC"/>
                </a:solidFill>
                <a:latin typeface="Segoe UI Semibold"/>
              </a:rPr>
              <a:t>2026</a:t>
            </a:r>
          </a:p>
        </p:txBody>
      </p:sp>
      <p:sp>
        <p:nvSpPr>
          <p:cNvPr id="4" name="Product stage"/>
          <p:cNvSpPr/>
          <p:nvPr/>
        </p:nvSpPr>
        <p:spPr>
          <a:xfrm>
            <a:off x="576000" y="3744000"/>
            <a:ext cx="6408000" cy="5040000"/>
          </a:xfrm>
          <a:prstGeom prst="roundRect">
            <a:avLst>
              <a:gd name="adj" fmla="val 2857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Floor-standing advertising display" descr="Floor-standing advertising disp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45" y="4212000"/>
            <a:ext cx="1562909" cy="4032000"/>
          </a:xfrm>
          <a:prstGeom prst="rect">
            <a:avLst/>
          </a:prstGeom>
        </p:spPr>
      </p:pic>
      <p:pic>
        <p:nvPicPr>
          <p:cNvPr id="6" name="4K AI smartboard" descr="4K AI smart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455" y="5348992"/>
            <a:ext cx="3744000" cy="2895008"/>
          </a:xfrm>
          <a:prstGeom prst="rect">
            <a:avLst/>
          </a:prstGeom>
        </p:spPr>
      </p:pic>
      <p:sp>
        <p:nvSpPr>
          <p:cNvPr id="7" name="Presented by"/>
          <p:cNvSpPr txBox="1"/>
          <p:nvPr/>
        </p:nvSpPr>
        <p:spPr>
          <a:xfrm>
            <a:off x="576000" y="9216000"/>
            <a:ext cx="4320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00" b="0" cap="all" spc="100" dirty="0">
                <a:solidFill>
                  <a:srgbClr val="B4C2D1"/>
                </a:solidFill>
                <a:latin typeface="Segoe UI Semibold"/>
              </a:rPr>
              <a:t>Presented by</a:t>
            </a:r>
          </a:p>
        </p:txBody>
      </p:sp>
      <p:sp>
        <p:nvSpPr>
          <p:cNvPr id="8" name="Company name"/>
          <p:cNvSpPr txBox="1"/>
          <p:nvPr/>
        </p:nvSpPr>
        <p:spPr>
          <a:xfrm>
            <a:off x="576000" y="9450000"/>
            <a:ext cx="6408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 dirty="0">
                <a:solidFill>
                  <a:srgbClr val="FFFFFF"/>
                </a:solidFill>
                <a:latin typeface="Segoe UI Semibold"/>
              </a:rPr>
              <a:t>Shenzhen </a:t>
            </a:r>
            <a:r>
              <a:rPr lang="en-US" sz="1900" b="0" dirty="0" err="1">
                <a:solidFill>
                  <a:srgbClr val="FFFFFF"/>
                </a:solidFill>
                <a:latin typeface="Segoe UI Semibold"/>
              </a:rPr>
              <a:t>Xingyicheng</a:t>
            </a:r>
            <a:r>
              <a:rPr lang="en-US" sz="1900" b="0">
                <a:solidFill>
                  <a:srgbClr val="FFFFFF"/>
                </a:solidFill>
                <a:latin typeface="Segoe UI Semibold"/>
              </a:rPr>
              <a:t> Technology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About Us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2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About Our Company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278000"/>
            <a:ext cx="6408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566270"/>
                </a:solidFill>
                <a:latin typeface="Segoe UI"/>
              </a:rPr>
              <a:t>Shenzhen Xingyicheng Technology Co., Ltd.</a:t>
            </a:r>
          </a:p>
        </p:txBody>
      </p:sp>
      <p:pic>
        <p:nvPicPr>
          <p:cNvPr id="8" name="Company reception counter with the Shenzhen Xingyicheng Tech" descr="Company reception counter with the Shenzhen Xingyicheng Technology Co., Ltd. name"/>
          <p:cNvPicPr>
            <a:picLocks noChangeAspect="1"/>
          </p:cNvPicPr>
          <p:nvPr/>
        </p:nvPicPr>
        <p:blipFill>
          <a:blip r:embed="rId2"/>
          <a:srcRect t="6742" b="6742"/>
          <a:stretch>
            <a:fillRect/>
          </a:stretch>
        </p:blipFill>
        <p:spPr>
          <a:xfrm>
            <a:off x="576000" y="1728000"/>
            <a:ext cx="6408000" cy="3024000"/>
          </a:xfrm>
          <a:prstGeom prst="roundRect">
            <a:avLst>
              <a:gd name="adj" fmla="val 3571"/>
            </a:avLst>
          </a:prstGeom>
        </p:spPr>
      </p:pic>
      <p:sp>
        <p:nvSpPr>
          <p:cNvPr id="9" name="Company introduction"/>
          <p:cNvSpPr txBox="1"/>
          <p:nvPr/>
        </p:nvSpPr>
        <p:spPr>
          <a:xfrm>
            <a:off x="576000" y="5112000"/>
            <a:ext cx="30600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200" b="0">
                <a:solidFill>
                  <a:srgbClr val="1B2733"/>
                </a:solidFill>
                <a:latin typeface="Segoe UI"/>
              </a:rPr>
              <a:t>Shenzhen Xingyicheng provides advanced display and electronics solutions, delivering precision-engineered technology to enterprises, retailers, and institutions worldwide. Our mission is to illuminate the future through innovation, quality, and design excellence.</a:t>
            </a:r>
          </a:p>
        </p:txBody>
      </p:sp>
      <p:sp>
        <p:nvSpPr>
          <p:cNvPr id="10" name="Company overview"/>
          <p:cNvSpPr txBox="1"/>
          <p:nvPr/>
        </p:nvSpPr>
        <p:spPr>
          <a:xfrm>
            <a:off x="3924000" y="5112000"/>
            <a:ext cx="30600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200" b="0">
                <a:solidFill>
                  <a:srgbClr val="1B2733"/>
                </a:solidFill>
                <a:latin typeface="Segoe UI"/>
              </a:rPr>
              <a:t>Shenzhen Xingyicheng is an electronics company with its own industrial and factory area. Currently, the company is expanding its business and plans to build a new factory area in Zhongshan.</a:t>
            </a:r>
          </a:p>
        </p:txBody>
      </p:sp>
      <p:sp>
        <p:nvSpPr>
          <p:cNvPr id="11" name="Fact tile"/>
          <p:cNvSpPr/>
          <p:nvPr/>
        </p:nvSpPr>
        <p:spPr>
          <a:xfrm>
            <a:off x="576000" y="6984000"/>
            <a:ext cx="2052000" cy="1116000"/>
          </a:xfrm>
          <a:prstGeom prst="roundRect">
            <a:avLst>
              <a:gd name="adj" fmla="val 9677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act value"/>
          <p:cNvSpPr txBox="1"/>
          <p:nvPr/>
        </p:nvSpPr>
        <p:spPr>
          <a:xfrm>
            <a:off x="756000" y="72000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>
                <a:solidFill>
                  <a:srgbClr val="0B1B2B"/>
                </a:solidFill>
                <a:latin typeface="Segoe UI Semibold"/>
              </a:rPr>
              <a:t>Since 2008</a:t>
            </a:r>
          </a:p>
        </p:txBody>
      </p:sp>
      <p:sp>
        <p:nvSpPr>
          <p:cNvPr id="13" name="Fact label"/>
          <p:cNvSpPr txBox="1"/>
          <p:nvPr/>
        </p:nvSpPr>
        <p:spPr>
          <a:xfrm>
            <a:off x="756000" y="7668000"/>
            <a:ext cx="1692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80">
                <a:solidFill>
                  <a:srgbClr val="566270"/>
                </a:solidFill>
                <a:latin typeface="Segoe UI Semibold"/>
              </a:rPr>
              <a:t>Display manufacturing</a:t>
            </a:r>
          </a:p>
        </p:txBody>
      </p:sp>
      <p:sp>
        <p:nvSpPr>
          <p:cNvPr id="14" name="Fact tile"/>
          <p:cNvSpPr/>
          <p:nvPr/>
        </p:nvSpPr>
        <p:spPr>
          <a:xfrm>
            <a:off x="2754000" y="6984000"/>
            <a:ext cx="2052000" cy="1116000"/>
          </a:xfrm>
          <a:prstGeom prst="roundRect">
            <a:avLst>
              <a:gd name="adj" fmla="val 9677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act value"/>
          <p:cNvSpPr txBox="1"/>
          <p:nvPr/>
        </p:nvSpPr>
        <p:spPr>
          <a:xfrm>
            <a:off x="2934000" y="72000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>
                <a:solidFill>
                  <a:srgbClr val="0B1B2B"/>
                </a:solidFill>
                <a:latin typeface="Segoe UI Semibold"/>
              </a:rPr>
              <a:t>50–100</a:t>
            </a:r>
          </a:p>
        </p:txBody>
      </p:sp>
      <p:sp>
        <p:nvSpPr>
          <p:cNvPr id="16" name="Fact label"/>
          <p:cNvSpPr txBox="1"/>
          <p:nvPr/>
        </p:nvSpPr>
        <p:spPr>
          <a:xfrm>
            <a:off x="2934000" y="7668000"/>
            <a:ext cx="1692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80">
                <a:solidFill>
                  <a:srgbClr val="566270"/>
                </a:solidFill>
                <a:latin typeface="Segoe UI Semibold"/>
              </a:rPr>
              <a:t>Employees</a:t>
            </a:r>
          </a:p>
        </p:txBody>
      </p:sp>
      <p:sp>
        <p:nvSpPr>
          <p:cNvPr id="17" name="Fact tile"/>
          <p:cNvSpPr/>
          <p:nvPr/>
        </p:nvSpPr>
        <p:spPr>
          <a:xfrm>
            <a:off x="4932000" y="6984000"/>
            <a:ext cx="2052000" cy="1116000"/>
          </a:xfrm>
          <a:prstGeom prst="roundRect">
            <a:avLst>
              <a:gd name="adj" fmla="val 9677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act value"/>
          <p:cNvSpPr txBox="1"/>
          <p:nvPr/>
        </p:nvSpPr>
        <p:spPr>
          <a:xfrm>
            <a:off x="5112000" y="72000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>
                <a:solidFill>
                  <a:srgbClr val="0B1B2B"/>
                </a:solidFill>
                <a:latin typeface="Segoe UI Semibold"/>
              </a:rPr>
              <a:t>RMB 1 million</a:t>
            </a:r>
          </a:p>
        </p:txBody>
      </p:sp>
      <p:sp>
        <p:nvSpPr>
          <p:cNvPr id="19" name="Fact label"/>
          <p:cNvSpPr txBox="1"/>
          <p:nvPr/>
        </p:nvSpPr>
        <p:spPr>
          <a:xfrm>
            <a:off x="5112000" y="7668000"/>
            <a:ext cx="1692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80">
                <a:solidFill>
                  <a:srgbClr val="566270"/>
                </a:solidFill>
                <a:latin typeface="Segoe UI Semibold"/>
              </a:rPr>
              <a:t>Registered capital</a:t>
            </a:r>
          </a:p>
        </p:txBody>
      </p:sp>
      <p:sp>
        <p:nvSpPr>
          <p:cNvPr id="20" name="Fact tile"/>
          <p:cNvSpPr/>
          <p:nvPr/>
        </p:nvSpPr>
        <p:spPr>
          <a:xfrm>
            <a:off x="576000" y="8226000"/>
            <a:ext cx="2052000" cy="1116000"/>
          </a:xfrm>
          <a:prstGeom prst="roundRect">
            <a:avLst>
              <a:gd name="adj" fmla="val 9677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act value"/>
          <p:cNvSpPr txBox="1"/>
          <p:nvPr/>
        </p:nvSpPr>
        <p:spPr>
          <a:xfrm>
            <a:off x="756000" y="84420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>
                <a:solidFill>
                  <a:srgbClr val="0B1B2B"/>
                </a:solidFill>
                <a:latin typeface="Segoe UI Semibold"/>
              </a:rPr>
              <a:t>40,000 m²</a:t>
            </a:r>
          </a:p>
        </p:txBody>
      </p:sp>
      <p:sp>
        <p:nvSpPr>
          <p:cNvPr id="22" name="Fact label"/>
          <p:cNvSpPr txBox="1"/>
          <p:nvPr/>
        </p:nvSpPr>
        <p:spPr>
          <a:xfrm>
            <a:off x="756000" y="8910000"/>
            <a:ext cx="1692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80">
                <a:solidFill>
                  <a:srgbClr val="566270"/>
                </a:solidFill>
                <a:latin typeface="Segoe UI Semibold"/>
              </a:rPr>
              <a:t>Own factory area, Shenzhen and Dongguan</a:t>
            </a:r>
          </a:p>
        </p:txBody>
      </p:sp>
      <p:sp>
        <p:nvSpPr>
          <p:cNvPr id="23" name="Fact tile"/>
          <p:cNvSpPr/>
          <p:nvPr/>
        </p:nvSpPr>
        <p:spPr>
          <a:xfrm>
            <a:off x="2754000" y="8226000"/>
            <a:ext cx="2052000" cy="1116000"/>
          </a:xfrm>
          <a:prstGeom prst="roundRect">
            <a:avLst>
              <a:gd name="adj" fmla="val 9677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act value"/>
          <p:cNvSpPr txBox="1"/>
          <p:nvPr/>
        </p:nvSpPr>
        <p:spPr>
          <a:xfrm>
            <a:off x="2934000" y="84420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>
                <a:solidFill>
                  <a:srgbClr val="0B1B2B"/>
                </a:solidFill>
                <a:latin typeface="Segoe UI Semibold"/>
              </a:rPr>
              <a:t>80+</a:t>
            </a:r>
          </a:p>
        </p:txBody>
      </p:sp>
      <p:sp>
        <p:nvSpPr>
          <p:cNvPr id="25" name="Fact label"/>
          <p:cNvSpPr txBox="1"/>
          <p:nvPr/>
        </p:nvSpPr>
        <p:spPr>
          <a:xfrm>
            <a:off x="2934000" y="8910000"/>
            <a:ext cx="1692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80">
                <a:solidFill>
                  <a:srgbClr val="566270"/>
                </a:solidFill>
                <a:latin typeface="Segoe UI Semibold"/>
              </a:rPr>
              <a:t>Countries exported to</a:t>
            </a:r>
          </a:p>
        </p:txBody>
      </p:sp>
      <p:sp>
        <p:nvSpPr>
          <p:cNvPr id="26" name="Fact tile"/>
          <p:cNvSpPr/>
          <p:nvPr/>
        </p:nvSpPr>
        <p:spPr>
          <a:xfrm>
            <a:off x="4932000" y="8226000"/>
            <a:ext cx="2052000" cy="1116000"/>
          </a:xfrm>
          <a:prstGeom prst="roundRect">
            <a:avLst>
              <a:gd name="adj" fmla="val 9677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act value"/>
          <p:cNvSpPr txBox="1"/>
          <p:nvPr/>
        </p:nvSpPr>
        <p:spPr>
          <a:xfrm>
            <a:off x="5112000" y="84420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>
                <a:solidFill>
                  <a:srgbClr val="0B1B2B"/>
                </a:solidFill>
                <a:latin typeface="Segoe UI Semibold"/>
              </a:rPr>
              <a:t>3</a:t>
            </a:r>
          </a:p>
        </p:txBody>
      </p:sp>
      <p:sp>
        <p:nvSpPr>
          <p:cNvPr id="28" name="Fact label"/>
          <p:cNvSpPr txBox="1"/>
          <p:nvPr/>
        </p:nvSpPr>
        <p:spPr>
          <a:xfrm>
            <a:off x="5112000" y="8910000"/>
            <a:ext cx="1692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80">
                <a:solidFill>
                  <a:srgbClr val="566270"/>
                </a:solidFill>
                <a:latin typeface="Segoe UI Semibold"/>
              </a:rPr>
              <a:t>Manufacturing cities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Capabilities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3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Design, Manufacturing &amp; Export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576000" y="1368000"/>
            <a:ext cx="6408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"/>
              </a:rPr>
              <a:t>We specialize in the design and manufacturing of high performance interactive displays, commercial digital signage, and smart visual solutions.</a:t>
            </a:r>
          </a:p>
        </p:txBody>
      </p:sp>
      <p:sp>
        <p:nvSpPr>
          <p:cNvPr id="8" name="Rule"/>
          <p:cNvSpPr/>
          <p:nvPr/>
        </p:nvSpPr>
        <p:spPr>
          <a:xfrm>
            <a:off x="576000" y="2448000"/>
            <a:ext cx="194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abel"/>
          <p:cNvSpPr txBox="1"/>
          <p:nvPr/>
        </p:nvSpPr>
        <p:spPr>
          <a:xfrm>
            <a:off x="576000" y="2563200"/>
            <a:ext cx="19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Product line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576000" y="2790000"/>
            <a:ext cx="1944000" cy="2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100" b="0">
                <a:solidFill>
                  <a:srgbClr val="1B2733"/>
                </a:solidFill>
                <a:latin typeface="Segoe UI"/>
              </a:rPr>
              <a:t>Interactive whiteboards, LCD video walls, tablets, laptops and AIOT products based on Android and Windows operating systems, with features such as Wi-Fi and 4G LTE connectivity.</a:t>
            </a:r>
          </a:p>
        </p:txBody>
      </p:sp>
      <p:sp>
        <p:nvSpPr>
          <p:cNvPr id="11" name="Rule"/>
          <p:cNvSpPr/>
          <p:nvPr/>
        </p:nvSpPr>
        <p:spPr>
          <a:xfrm>
            <a:off x="2736000" y="2448000"/>
            <a:ext cx="208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abel"/>
          <p:cNvSpPr txBox="1"/>
          <p:nvPr/>
        </p:nvSpPr>
        <p:spPr>
          <a:xfrm>
            <a:off x="2736000" y="2563200"/>
            <a:ext cx="208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Design &amp; engineering</a:t>
            </a:r>
          </a:p>
        </p:txBody>
      </p:sp>
      <p:sp>
        <p:nvSpPr>
          <p:cNvPr id="13" name="Body"/>
          <p:cNvSpPr txBox="1"/>
          <p:nvPr/>
        </p:nvSpPr>
        <p:spPr>
          <a:xfrm>
            <a:off x="2736000" y="2790000"/>
            <a:ext cx="2088000" cy="10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100" b="0">
                <a:solidFill>
                  <a:srgbClr val="1B2733"/>
                </a:solidFill>
                <a:latin typeface="Segoe UI"/>
              </a:rPr>
              <a:t>With over 15 years of experience in production and export business, we provide comprehensive services such as:</a:t>
            </a:r>
          </a:p>
        </p:txBody>
      </p:sp>
      <p:sp>
        <p:nvSpPr>
          <p:cNvPr id="14" name="Services list"/>
          <p:cNvSpPr txBox="1"/>
          <p:nvPr/>
        </p:nvSpPr>
        <p:spPr>
          <a:xfrm>
            <a:off x="2736000" y="3816000"/>
            <a:ext cx="208800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15000"/>
              </a:lnSpc>
              <a:spcAft>
                <a:spcPts val="2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00" b="0">
                <a:solidFill>
                  <a:srgbClr val="1B2733"/>
                </a:solidFill>
                <a:latin typeface="Segoe UI Semibold"/>
              </a:rPr>
              <a:t>PCBA design</a:t>
            </a:r>
          </a:p>
          <a:p>
            <a:pPr marL="151200" indent="-151200" algn="l">
              <a:lnSpc>
                <a:spcPct val="115000"/>
              </a:lnSpc>
              <a:spcAft>
                <a:spcPts val="2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00" b="0">
                <a:solidFill>
                  <a:srgbClr val="1B2733"/>
                </a:solidFill>
                <a:latin typeface="Segoe UI Semibold"/>
              </a:rPr>
              <a:t>ID design</a:t>
            </a:r>
          </a:p>
          <a:p>
            <a:pPr marL="151200" indent="-151200" algn="l">
              <a:lnSpc>
                <a:spcPct val="115000"/>
              </a:lnSpc>
              <a:spcAft>
                <a:spcPts val="2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00" b="0">
                <a:solidFill>
                  <a:srgbClr val="1B2733"/>
                </a:solidFill>
                <a:latin typeface="Segoe UI Semibold"/>
              </a:rPr>
              <a:t>Hardware and software design</a:t>
            </a:r>
          </a:p>
        </p:txBody>
      </p:sp>
      <p:sp>
        <p:nvSpPr>
          <p:cNvPr id="15" name="Rule"/>
          <p:cNvSpPr/>
          <p:nvPr/>
        </p:nvSpPr>
        <p:spPr>
          <a:xfrm>
            <a:off x="5040000" y="2448000"/>
            <a:ext cx="194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abel"/>
          <p:cNvSpPr txBox="1"/>
          <p:nvPr/>
        </p:nvSpPr>
        <p:spPr>
          <a:xfrm>
            <a:off x="5040000" y="2563200"/>
            <a:ext cx="19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Global export</a:t>
            </a:r>
          </a:p>
        </p:txBody>
      </p:sp>
      <p:sp>
        <p:nvSpPr>
          <p:cNvPr id="17" name="Body"/>
          <p:cNvSpPr txBox="1"/>
          <p:nvPr/>
        </p:nvSpPr>
        <p:spPr>
          <a:xfrm>
            <a:off x="5040000" y="2790000"/>
            <a:ext cx="1944000" cy="2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100" b="0">
                <a:solidFill>
                  <a:srgbClr val="1B2733"/>
                </a:solidFill>
                <a:latin typeface="Segoe UI"/>
              </a:rPr>
              <a:t>We export our products to more than 80 countries, including South Korea, Japan, Europe, the United States and Australia.</a:t>
            </a:r>
          </a:p>
        </p:txBody>
      </p:sp>
      <p:sp>
        <p:nvSpPr>
          <p:cNvPr id="18" name="Statement panel"/>
          <p:cNvSpPr/>
          <p:nvPr/>
        </p:nvSpPr>
        <p:spPr>
          <a:xfrm>
            <a:off x="576000" y="5112000"/>
            <a:ext cx="6408000" cy="10800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ement"/>
          <p:cNvSpPr txBox="1"/>
          <p:nvPr/>
        </p:nvSpPr>
        <p:spPr>
          <a:xfrm>
            <a:off x="864000" y="5112000"/>
            <a:ext cx="58320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700" b="0">
                <a:solidFill>
                  <a:srgbClr val="0B1B2B"/>
                </a:solidFill>
                <a:latin typeface="Segoe UI Semibold"/>
              </a:rPr>
              <a:t>Backed by strict quality control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700" b="0">
                <a:solidFill>
                  <a:srgbClr val="0B1B2B"/>
                </a:solidFill>
                <a:latin typeface="Segoe UI Semibold"/>
              </a:rPr>
              <a:t>and comprehensive OEM/ODM support.</a:t>
            </a:r>
          </a:p>
        </p:txBody>
      </p:sp>
      <p:sp>
        <p:nvSpPr>
          <p:cNvPr id="20" name="Certifications panel"/>
          <p:cNvSpPr/>
          <p:nvPr/>
        </p:nvSpPr>
        <p:spPr>
          <a:xfrm>
            <a:off x="576000" y="6408000"/>
            <a:ext cx="6408000" cy="3384000"/>
          </a:xfrm>
          <a:prstGeom prst="roundRect">
            <a:avLst>
              <a:gd name="adj" fmla="val 4255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abel"/>
          <p:cNvSpPr txBox="1"/>
          <p:nvPr/>
        </p:nvSpPr>
        <p:spPr>
          <a:xfrm>
            <a:off x="864000" y="6696000"/>
            <a:ext cx="316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Company certifications</a:t>
            </a:r>
          </a:p>
        </p:txBody>
      </p:sp>
      <p:sp>
        <p:nvSpPr>
          <p:cNvPr id="22" name="Lead"/>
          <p:cNvSpPr txBox="1"/>
          <p:nvPr/>
        </p:nvSpPr>
        <p:spPr>
          <a:xfrm>
            <a:off x="864000" y="6930000"/>
            <a:ext cx="3168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>
                <a:solidFill>
                  <a:srgbClr val="B4C2D1"/>
                </a:solidFill>
                <a:latin typeface="Segoe UI"/>
              </a:rPr>
              <a:t>The company has obtained certifications such as:</a:t>
            </a:r>
          </a:p>
        </p:txBody>
      </p:sp>
      <p:sp>
        <p:nvSpPr>
          <p:cNvPr id="23" name="Chip ISO 9001"/>
          <p:cNvSpPr/>
          <p:nvPr/>
        </p:nvSpPr>
        <p:spPr>
          <a:xfrm>
            <a:off x="864000" y="7488000"/>
            <a:ext cx="824569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ISO 9001</a:t>
            </a:r>
          </a:p>
        </p:txBody>
      </p:sp>
      <p:sp>
        <p:nvSpPr>
          <p:cNvPr id="24" name="Chip ISO 14001"/>
          <p:cNvSpPr/>
          <p:nvPr/>
        </p:nvSpPr>
        <p:spPr>
          <a:xfrm>
            <a:off x="1782169" y="7488000"/>
            <a:ext cx="882676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ISO 14001</a:t>
            </a:r>
          </a:p>
        </p:txBody>
      </p:sp>
      <p:sp>
        <p:nvSpPr>
          <p:cNvPr id="25" name="Chip ISO 45001"/>
          <p:cNvSpPr/>
          <p:nvPr/>
        </p:nvSpPr>
        <p:spPr>
          <a:xfrm>
            <a:off x="2758445" y="7488000"/>
            <a:ext cx="904379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ISO 45001</a:t>
            </a:r>
          </a:p>
        </p:txBody>
      </p:sp>
      <p:sp>
        <p:nvSpPr>
          <p:cNvPr id="26" name="Chip CCC"/>
          <p:cNvSpPr/>
          <p:nvPr/>
        </p:nvSpPr>
        <p:spPr>
          <a:xfrm>
            <a:off x="864000" y="7884000"/>
            <a:ext cx="533901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CCC</a:t>
            </a:r>
          </a:p>
        </p:txBody>
      </p:sp>
      <p:sp>
        <p:nvSpPr>
          <p:cNvPr id="27" name="Recognition"/>
          <p:cNvSpPr txBox="1"/>
          <p:nvPr/>
        </p:nvSpPr>
        <p:spPr>
          <a:xfrm>
            <a:off x="864000" y="8474400"/>
            <a:ext cx="3168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>
                <a:solidFill>
                  <a:srgbClr val="B4C2D1"/>
                </a:solidFill>
                <a:latin typeface="Segoe UI"/>
              </a:rPr>
              <a:t>Also recognized as a national and Shenzhen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>
                <a:solidFill>
                  <a:srgbClr val="B4C2D1"/>
                </a:solidFill>
                <a:latin typeface="Segoe UI"/>
              </a:rPr>
              <a:t>high-tech enterprise.</a:t>
            </a:r>
          </a:p>
        </p:txBody>
      </p:sp>
      <p:sp>
        <p:nvSpPr>
          <p:cNvPr id="28" name="Label"/>
          <p:cNvSpPr txBox="1"/>
          <p:nvPr/>
        </p:nvSpPr>
        <p:spPr>
          <a:xfrm>
            <a:off x="4176000" y="6696000"/>
            <a:ext cx="266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Product certifications</a:t>
            </a:r>
          </a:p>
        </p:txBody>
      </p:sp>
      <p:sp>
        <p:nvSpPr>
          <p:cNvPr id="29" name="Lead"/>
          <p:cNvSpPr txBox="1"/>
          <p:nvPr/>
        </p:nvSpPr>
        <p:spPr>
          <a:xfrm>
            <a:off x="4176000" y="6930000"/>
            <a:ext cx="2664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0">
                <a:solidFill>
                  <a:srgbClr val="B4C2D1"/>
                </a:solidFill>
                <a:latin typeface="Segoe UI"/>
              </a:rPr>
              <a:t>Our products have obtained certifications such as:</a:t>
            </a:r>
          </a:p>
        </p:txBody>
      </p:sp>
      <p:sp>
        <p:nvSpPr>
          <p:cNvPr id="30" name="Chip KC"/>
          <p:cNvSpPr/>
          <p:nvPr/>
        </p:nvSpPr>
        <p:spPr>
          <a:xfrm>
            <a:off x="4176000" y="7488000"/>
            <a:ext cx="445745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KC</a:t>
            </a:r>
          </a:p>
        </p:txBody>
      </p:sp>
      <p:sp>
        <p:nvSpPr>
          <p:cNvPr id="31" name="Chip TELEC"/>
          <p:cNvSpPr/>
          <p:nvPr/>
        </p:nvSpPr>
        <p:spPr>
          <a:xfrm>
            <a:off x="4715345" y="7488000"/>
            <a:ext cx="651647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TELEC</a:t>
            </a:r>
          </a:p>
        </p:txBody>
      </p:sp>
      <p:sp>
        <p:nvSpPr>
          <p:cNvPr id="32" name="Chip CE"/>
          <p:cNvSpPr/>
          <p:nvPr/>
        </p:nvSpPr>
        <p:spPr>
          <a:xfrm>
            <a:off x="5460592" y="7488000"/>
            <a:ext cx="433220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CE</a:t>
            </a:r>
          </a:p>
        </p:txBody>
      </p:sp>
      <p:sp>
        <p:nvSpPr>
          <p:cNvPr id="33" name="Chip RoHS"/>
          <p:cNvSpPr/>
          <p:nvPr/>
        </p:nvSpPr>
        <p:spPr>
          <a:xfrm>
            <a:off x="5987412" y="7488000"/>
            <a:ext cx="623589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RoHS</a:t>
            </a:r>
          </a:p>
        </p:txBody>
      </p:sp>
      <p:sp>
        <p:nvSpPr>
          <p:cNvPr id="34" name="Chip FCC"/>
          <p:cNvSpPr/>
          <p:nvPr/>
        </p:nvSpPr>
        <p:spPr>
          <a:xfrm>
            <a:off x="4176000" y="7884000"/>
            <a:ext cx="517165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FCC</a:t>
            </a:r>
          </a:p>
        </p:txBody>
      </p:sp>
      <p:sp>
        <p:nvSpPr>
          <p:cNvPr id="35" name="Chip CB"/>
          <p:cNvSpPr/>
          <p:nvPr/>
        </p:nvSpPr>
        <p:spPr>
          <a:xfrm>
            <a:off x="4786765" y="7884000"/>
            <a:ext cx="445121" cy="302400"/>
          </a:xfrm>
          <a:prstGeom prst="roundRect">
            <a:avLst>
              <a:gd name="adj" fmla="val 50000"/>
            </a:avLst>
          </a:prstGeom>
          <a:solidFill>
            <a:srgbClr val="16314B"/>
          </a:solidFill>
          <a:ln w="9525">
            <a:solidFill>
              <a:srgbClr val="2B4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FFFFFF"/>
                </a:solidFill>
                <a:latin typeface="Segoe UI Semibold"/>
              </a:rPr>
              <a:t>CB</a:t>
            </a:r>
          </a:p>
        </p:txBody>
      </p:sp>
      <p:sp>
        <p:nvSpPr>
          <p:cNvPr id="36" name="Badge plate"/>
          <p:cNvSpPr/>
          <p:nvPr/>
        </p:nvSpPr>
        <p:spPr>
          <a:xfrm>
            <a:off x="4176000" y="8784000"/>
            <a:ext cx="792000" cy="720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CE mark" descr="CE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000" y="8938772"/>
            <a:ext cx="576000" cy="410457"/>
          </a:xfrm>
          <a:prstGeom prst="rect">
            <a:avLst/>
          </a:prstGeom>
        </p:spPr>
      </p:pic>
      <p:sp>
        <p:nvSpPr>
          <p:cNvPr id="38" name="Badge plate"/>
          <p:cNvSpPr/>
          <p:nvPr/>
        </p:nvSpPr>
        <p:spPr>
          <a:xfrm>
            <a:off x="5076000" y="8784000"/>
            <a:ext cx="792000" cy="720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RoHS mark" descr="RoHS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000" y="8874000"/>
            <a:ext cx="540000" cy="540000"/>
          </a:xfrm>
          <a:prstGeom prst="rect">
            <a:avLst/>
          </a:prstGeom>
        </p:spPr>
      </p:pic>
      <p:sp>
        <p:nvSpPr>
          <p:cNvPr id="40" name="Badge plate"/>
          <p:cNvSpPr/>
          <p:nvPr/>
        </p:nvSpPr>
        <p:spPr>
          <a:xfrm>
            <a:off x="5976000" y="8784000"/>
            <a:ext cx="792000" cy="720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ISO mark" descr="IS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000" y="8969202"/>
            <a:ext cx="576000" cy="349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Product Portfolio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4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Product Portfolio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576000" y="1368000"/>
            <a:ext cx="6408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"/>
              </a:rPr>
              <a:t>Four product lines for education, enterprise, retail and advertising environments.</a:t>
            </a:r>
          </a:p>
        </p:txBody>
      </p:sp>
      <p:sp>
        <p:nvSpPr>
          <p:cNvPr id="8" name="Card stage"/>
          <p:cNvSpPr/>
          <p:nvPr/>
        </p:nvSpPr>
        <p:spPr>
          <a:xfrm>
            <a:off x="576000" y="2232000"/>
            <a:ext cx="3060000" cy="2088000"/>
          </a:xfrm>
          <a:prstGeom prst="roundRect">
            <a:avLst>
              <a:gd name="adj" fmla="val 5172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4K AI smartboard" descr="4K AI smart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66" y="2376000"/>
            <a:ext cx="2327869" cy="1800000"/>
          </a:xfrm>
          <a:prstGeom prst="rect">
            <a:avLst/>
          </a:prstGeom>
        </p:spPr>
      </p:pic>
      <p:sp>
        <p:nvSpPr>
          <p:cNvPr id="10" name="Number"/>
          <p:cNvSpPr txBox="1"/>
          <p:nvPr/>
        </p:nvSpPr>
        <p:spPr>
          <a:xfrm>
            <a:off x="576000" y="4482000"/>
            <a:ext cx="360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9678F"/>
                </a:solidFill>
                <a:latin typeface="Segoe UI Semibold"/>
              </a:rPr>
              <a:t>01</a:t>
            </a:r>
          </a:p>
        </p:txBody>
      </p:sp>
      <p:sp>
        <p:nvSpPr>
          <p:cNvPr id="11" name="Card title"/>
          <p:cNvSpPr txBox="1"/>
          <p:nvPr/>
        </p:nvSpPr>
        <p:spPr>
          <a:xfrm>
            <a:off x="972000" y="4474800"/>
            <a:ext cx="2664000" cy="2555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0B1B2B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12" name="Card facts"/>
          <p:cNvSpPr txBox="1"/>
          <p:nvPr/>
        </p:nvSpPr>
        <p:spPr>
          <a:xfrm>
            <a:off x="972000" y="4784383"/>
            <a:ext cx="2664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4K AI Smartboards, 65" to 110"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Infrared touch · Android + Windows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Also: smart nano blackboard, touch screens, OPS PC module</a:t>
            </a:r>
          </a:p>
        </p:txBody>
      </p:sp>
      <p:sp>
        <p:nvSpPr>
          <p:cNvPr id="13" name="Page reference"/>
          <p:cNvSpPr txBox="1"/>
          <p:nvPr/>
        </p:nvSpPr>
        <p:spPr>
          <a:xfrm>
            <a:off x="972000" y="5688000"/>
            <a:ext cx="2664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Page 05–10</a:t>
            </a:r>
          </a:p>
        </p:txBody>
      </p:sp>
      <p:sp>
        <p:nvSpPr>
          <p:cNvPr id="14" name="Card stage"/>
          <p:cNvSpPr/>
          <p:nvPr/>
        </p:nvSpPr>
        <p:spPr>
          <a:xfrm>
            <a:off x="3924000" y="2232000"/>
            <a:ext cx="3060000" cy="2088000"/>
          </a:xfrm>
          <a:prstGeom prst="roundRect">
            <a:avLst>
              <a:gd name="adj" fmla="val 5172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Landing-style advertising display" descr="Floor-standing advertising displ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200" y="2376000"/>
            <a:ext cx="687600" cy="1800000"/>
          </a:xfrm>
          <a:prstGeom prst="rect">
            <a:avLst/>
          </a:prstGeom>
        </p:spPr>
      </p:pic>
      <p:sp>
        <p:nvSpPr>
          <p:cNvPr id="16" name="Number"/>
          <p:cNvSpPr txBox="1"/>
          <p:nvPr/>
        </p:nvSpPr>
        <p:spPr>
          <a:xfrm>
            <a:off x="3924000" y="4482000"/>
            <a:ext cx="360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9678F"/>
                </a:solidFill>
                <a:latin typeface="Segoe UI Semibold"/>
              </a:rPr>
              <a:t>02</a:t>
            </a:r>
          </a:p>
        </p:txBody>
      </p:sp>
      <p:sp>
        <p:nvSpPr>
          <p:cNvPr id="17" name="Card title"/>
          <p:cNvSpPr txBox="1"/>
          <p:nvPr/>
        </p:nvSpPr>
        <p:spPr>
          <a:xfrm>
            <a:off x="4320000" y="4474800"/>
            <a:ext cx="2664000" cy="2555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0B1B2B"/>
                </a:solidFill>
                <a:latin typeface="Segoe UI Semibold"/>
              </a:rPr>
              <a:t>Digital Signage</a:t>
            </a:r>
          </a:p>
        </p:txBody>
      </p:sp>
      <p:sp>
        <p:nvSpPr>
          <p:cNvPr id="18" name="Card facts"/>
          <p:cNvSpPr txBox="1"/>
          <p:nvPr/>
        </p:nvSpPr>
        <p:spPr>
          <a:xfrm>
            <a:off x="4320000" y="4784383"/>
            <a:ext cx="2664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4K Android advertising displays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Wall-mounted and floor-standing · 32" to 65"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No touch, infrared or capacitive touch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Also: kiosk styles, bar type and OLED displays</a:t>
            </a:r>
          </a:p>
        </p:txBody>
      </p:sp>
      <p:sp>
        <p:nvSpPr>
          <p:cNvPr id="19" name="Page reference"/>
          <p:cNvSpPr txBox="1"/>
          <p:nvPr/>
        </p:nvSpPr>
        <p:spPr>
          <a:xfrm>
            <a:off x="4320000" y="5688000"/>
            <a:ext cx="2664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Page 11–13</a:t>
            </a:r>
          </a:p>
        </p:txBody>
      </p:sp>
      <p:sp>
        <p:nvSpPr>
          <p:cNvPr id="20" name="Card stage"/>
          <p:cNvSpPr/>
          <p:nvPr/>
        </p:nvSpPr>
        <p:spPr>
          <a:xfrm>
            <a:off x="576000" y="6048000"/>
            <a:ext cx="3060000" cy="2088000"/>
          </a:xfrm>
          <a:prstGeom prst="roundRect">
            <a:avLst>
              <a:gd name="adj" fmla="val 5172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Outdoor weatherproof advertising displays" descr="Outdoor weatherproof advertising display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48" y="6192000"/>
            <a:ext cx="2556904" cy="1800000"/>
          </a:xfrm>
          <a:prstGeom prst="rect">
            <a:avLst/>
          </a:prstGeom>
        </p:spPr>
      </p:pic>
      <p:sp>
        <p:nvSpPr>
          <p:cNvPr id="22" name="Number"/>
          <p:cNvSpPr txBox="1"/>
          <p:nvPr/>
        </p:nvSpPr>
        <p:spPr>
          <a:xfrm>
            <a:off x="576000" y="8298000"/>
            <a:ext cx="360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9678F"/>
                </a:solidFill>
                <a:latin typeface="Segoe UI Semibold"/>
              </a:rPr>
              <a:t>03</a:t>
            </a:r>
          </a:p>
        </p:txBody>
      </p:sp>
      <p:sp>
        <p:nvSpPr>
          <p:cNvPr id="23" name="Card title"/>
          <p:cNvSpPr txBox="1"/>
          <p:nvPr/>
        </p:nvSpPr>
        <p:spPr>
          <a:xfrm>
            <a:off x="972000" y="8290800"/>
            <a:ext cx="2664000" cy="2555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0B1B2B"/>
                </a:solidFill>
                <a:latin typeface="Segoe UI Semibold"/>
              </a:rPr>
              <a:t>Outdoor Weatherproof Displays</a:t>
            </a:r>
          </a:p>
        </p:txBody>
      </p:sp>
      <p:sp>
        <p:nvSpPr>
          <p:cNvPr id="24" name="Card facts"/>
          <p:cNvSpPr txBox="1"/>
          <p:nvPr/>
        </p:nvSpPr>
        <p:spPr>
          <a:xfrm>
            <a:off x="972000" y="8600383"/>
            <a:ext cx="2664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Ultra bright: 2000–2500 cd/m² · IP55 / IP65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Sizes: 32", 43", 49", 55", 65", 75", 86", 98"</a:t>
            </a:r>
          </a:p>
        </p:txBody>
      </p:sp>
      <p:sp>
        <p:nvSpPr>
          <p:cNvPr id="25" name="Page reference"/>
          <p:cNvSpPr txBox="1"/>
          <p:nvPr/>
        </p:nvSpPr>
        <p:spPr>
          <a:xfrm>
            <a:off x="972000" y="9504000"/>
            <a:ext cx="2664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Page 14–15</a:t>
            </a:r>
          </a:p>
        </p:txBody>
      </p:sp>
      <p:sp>
        <p:nvSpPr>
          <p:cNvPr id="26" name="Card stage"/>
          <p:cNvSpPr/>
          <p:nvPr/>
        </p:nvSpPr>
        <p:spPr>
          <a:xfrm>
            <a:off x="3924000" y="6048000"/>
            <a:ext cx="3060000" cy="2088000"/>
          </a:xfrm>
          <a:prstGeom prst="roundRect">
            <a:avLst>
              <a:gd name="adj" fmla="val 5172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ortable smart Android TV on a mobile stand" descr="Portable smart Android TV on a mobile sta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272" y="6192000"/>
            <a:ext cx="931456" cy="1800000"/>
          </a:xfrm>
          <a:prstGeom prst="rect">
            <a:avLst/>
          </a:prstGeom>
        </p:spPr>
      </p:pic>
      <p:sp>
        <p:nvSpPr>
          <p:cNvPr id="28" name="Number"/>
          <p:cNvSpPr txBox="1"/>
          <p:nvPr/>
        </p:nvSpPr>
        <p:spPr>
          <a:xfrm>
            <a:off x="3924000" y="8298000"/>
            <a:ext cx="360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9678F"/>
                </a:solidFill>
                <a:latin typeface="Segoe UI Semibold"/>
              </a:rPr>
              <a:t>04</a:t>
            </a:r>
          </a:p>
        </p:txBody>
      </p:sp>
      <p:sp>
        <p:nvSpPr>
          <p:cNvPr id="29" name="Card title"/>
          <p:cNvSpPr txBox="1"/>
          <p:nvPr/>
        </p:nvSpPr>
        <p:spPr>
          <a:xfrm>
            <a:off x="4320000" y="8290800"/>
            <a:ext cx="2664000" cy="2555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0B1B2B"/>
                </a:solidFill>
                <a:latin typeface="Segoe UI Semibold"/>
              </a:rPr>
              <a:t>Portable Smart Android TV</a:t>
            </a:r>
          </a:p>
        </p:txBody>
      </p:sp>
      <p:sp>
        <p:nvSpPr>
          <p:cNvPr id="30" name="Card facts"/>
          <p:cNvSpPr txBox="1"/>
          <p:nvPr/>
        </p:nvSpPr>
        <p:spPr>
          <a:xfrm>
            <a:off x="4320000" y="8600383"/>
            <a:ext cx="2664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Sizes: 23.8", 27", 32"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Six series, 17 models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MTK8788 or MTK8781 platform</a:t>
            </a:r>
          </a:p>
        </p:txBody>
      </p:sp>
      <p:sp>
        <p:nvSpPr>
          <p:cNvPr id="31" name="Page reference"/>
          <p:cNvSpPr txBox="1"/>
          <p:nvPr/>
        </p:nvSpPr>
        <p:spPr>
          <a:xfrm>
            <a:off x="4320000" y="9504000"/>
            <a:ext cx="2664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Page 16–18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lock"/>
          <p:cNvSpPr/>
          <p:nvPr/>
        </p:nvSpPr>
        <p:spPr>
          <a:xfrm>
            <a:off x="0" y="0"/>
            <a:ext cx="7560000" cy="280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B4C2D1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5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Label"/>
          <p:cNvSpPr txBox="1"/>
          <p:nvPr/>
        </p:nvSpPr>
        <p:spPr>
          <a:xfrm>
            <a:off x="576000" y="774000"/>
            <a:ext cx="54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 cap="all" spc="100">
                <a:solidFill>
                  <a:srgbClr val="6CC8EC"/>
                </a:solidFill>
                <a:latin typeface="Segoe UI Semibold"/>
              </a:rPr>
              <a:t>Product line 01  ·  Interactive Displays</a:t>
            </a:r>
          </a:p>
        </p:txBody>
      </p:sp>
      <p:sp>
        <p:nvSpPr>
          <p:cNvPr id="7" name="Page title"/>
          <p:cNvSpPr txBox="1"/>
          <p:nvPr/>
        </p:nvSpPr>
        <p:spPr>
          <a:xfrm>
            <a:off x="576000" y="1026000"/>
            <a:ext cx="6408000" cy="542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FFFFFF"/>
                </a:solidFill>
                <a:latin typeface="Segoe UI Semibold"/>
              </a:rPr>
              <a:t>4K AI Smartboards</a:t>
            </a:r>
          </a:p>
        </p:txBody>
      </p:sp>
      <p:sp>
        <p:nvSpPr>
          <p:cNvPr id="8" name="Descriptor"/>
          <p:cNvSpPr txBox="1"/>
          <p:nvPr/>
        </p:nvSpPr>
        <p:spPr>
          <a:xfrm>
            <a:off x="576000" y="1622730"/>
            <a:ext cx="612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B4C2D1"/>
                </a:solidFill>
                <a:latin typeface="Segoe UI"/>
              </a:rPr>
              <a:t>Interactive Flat Panel Display (IFPD)  ·  E5 series</a:t>
            </a:r>
          </a:p>
        </p:txBody>
      </p:sp>
      <p:sp>
        <p:nvSpPr>
          <p:cNvPr id="9" name="Product stage"/>
          <p:cNvSpPr/>
          <p:nvPr/>
        </p:nvSpPr>
        <p:spPr>
          <a:xfrm>
            <a:off x="576000" y="2232000"/>
            <a:ext cx="6408000" cy="3204000"/>
          </a:xfrm>
          <a:prstGeom prst="roundRect">
            <a:avLst>
              <a:gd name="adj" fmla="val 3125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Line-up of 4K AI smartboards on mobile stands" descr="Line-up of 4K AI smartboards on mobile stan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83334"/>
            <a:ext cx="6120000" cy="2901333"/>
          </a:xfrm>
          <a:prstGeom prst="rect">
            <a:avLst/>
          </a:prstGeom>
        </p:spPr>
      </p:pic>
      <p:sp>
        <p:nvSpPr>
          <p:cNvPr id="11" name="Label"/>
          <p:cNvSpPr txBox="1"/>
          <p:nvPr/>
        </p:nvSpPr>
        <p:spPr>
          <a:xfrm>
            <a:off x="576000" y="5720400"/>
            <a:ext cx="12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Available sizes</a:t>
            </a:r>
          </a:p>
        </p:txBody>
      </p:sp>
      <p:sp>
        <p:nvSpPr>
          <p:cNvPr id="12" name="Chip 65&quot;"/>
          <p:cNvSpPr/>
          <p:nvPr/>
        </p:nvSpPr>
        <p:spPr>
          <a:xfrm>
            <a:off x="1800000" y="5616000"/>
            <a:ext cx="544895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65"</a:t>
            </a:r>
          </a:p>
        </p:txBody>
      </p:sp>
      <p:sp>
        <p:nvSpPr>
          <p:cNvPr id="13" name="Chip 75&quot;"/>
          <p:cNvSpPr/>
          <p:nvPr/>
        </p:nvSpPr>
        <p:spPr>
          <a:xfrm>
            <a:off x="2431295" y="5616000"/>
            <a:ext cx="541228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75"</a:t>
            </a:r>
          </a:p>
        </p:txBody>
      </p:sp>
      <p:sp>
        <p:nvSpPr>
          <p:cNvPr id="14" name="Chip 85&quot;"/>
          <p:cNvSpPr/>
          <p:nvPr/>
        </p:nvSpPr>
        <p:spPr>
          <a:xfrm>
            <a:off x="3058923" y="5616000"/>
            <a:ext cx="544162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85"</a:t>
            </a:r>
          </a:p>
        </p:txBody>
      </p:sp>
      <p:sp>
        <p:nvSpPr>
          <p:cNvPr id="15" name="Chip 86&quot;"/>
          <p:cNvSpPr/>
          <p:nvPr/>
        </p:nvSpPr>
        <p:spPr>
          <a:xfrm>
            <a:off x="3689485" y="5616000"/>
            <a:ext cx="544895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86"</a:t>
            </a:r>
          </a:p>
        </p:txBody>
      </p:sp>
      <p:sp>
        <p:nvSpPr>
          <p:cNvPr id="16" name="Chip 98&quot;"/>
          <p:cNvSpPr/>
          <p:nvPr/>
        </p:nvSpPr>
        <p:spPr>
          <a:xfrm>
            <a:off x="4320780" y="5616000"/>
            <a:ext cx="544895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98"</a:t>
            </a:r>
          </a:p>
        </p:txBody>
      </p:sp>
      <p:sp>
        <p:nvSpPr>
          <p:cNvPr id="17" name="Chip 100&quot;"/>
          <p:cNvSpPr/>
          <p:nvPr/>
        </p:nvSpPr>
        <p:spPr>
          <a:xfrm>
            <a:off x="4952075" y="5616000"/>
            <a:ext cx="602836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100"</a:t>
            </a:r>
          </a:p>
        </p:txBody>
      </p:sp>
      <p:sp>
        <p:nvSpPr>
          <p:cNvPr id="18" name="Chip 110&quot;"/>
          <p:cNvSpPr/>
          <p:nvPr/>
        </p:nvSpPr>
        <p:spPr>
          <a:xfrm>
            <a:off x="5641311" y="5616000"/>
            <a:ext cx="580100" cy="324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110"</a:t>
            </a:r>
          </a:p>
        </p:txBody>
      </p:sp>
      <p:sp>
        <p:nvSpPr>
          <p:cNvPr id="19" name="Card"/>
          <p:cNvSpPr/>
          <p:nvPr/>
        </p:nvSpPr>
        <p:spPr>
          <a:xfrm>
            <a:off x="576000" y="6156000"/>
            <a:ext cx="1467000" cy="756000"/>
          </a:xfrm>
          <a:prstGeom prst="roundRect">
            <a:avLst>
              <a:gd name="adj" fmla="val 14285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value"/>
          <p:cNvSpPr txBox="1"/>
          <p:nvPr/>
        </p:nvSpPr>
        <p:spPr>
          <a:xfrm>
            <a:off x="756000" y="6282000"/>
            <a:ext cx="1107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lang="en-US">
                <a:solidFill>
                  <a:srgbClr val="0B1B2B"/>
                </a:solidFill>
                <a:latin typeface="Segoe UI Semibold"/>
              </a:rPr>
              <a:t>4K UHD</a:t>
            </a:r>
          </a:p>
        </p:txBody>
      </p:sp>
      <p:sp>
        <p:nvSpPr>
          <p:cNvPr id="21" name="Card note"/>
          <p:cNvSpPr txBox="1"/>
          <p:nvPr/>
        </p:nvSpPr>
        <p:spPr>
          <a:xfrm>
            <a:off x="756000" y="6624000"/>
            <a:ext cx="1107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3840 × 2160</a:t>
            </a:r>
          </a:p>
        </p:txBody>
      </p:sp>
      <p:sp>
        <p:nvSpPr>
          <p:cNvPr id="22" name="Card"/>
          <p:cNvSpPr/>
          <p:nvPr/>
        </p:nvSpPr>
        <p:spPr>
          <a:xfrm>
            <a:off x="2223000" y="6156000"/>
            <a:ext cx="1467000" cy="756000"/>
          </a:xfrm>
          <a:prstGeom prst="roundRect">
            <a:avLst>
              <a:gd name="adj" fmla="val 14285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value"/>
          <p:cNvSpPr txBox="1"/>
          <p:nvPr/>
        </p:nvSpPr>
        <p:spPr>
          <a:xfrm>
            <a:off x="2403000" y="6282000"/>
            <a:ext cx="1107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lang="en-US">
                <a:solidFill>
                  <a:srgbClr val="0B1B2B"/>
                </a:solidFill>
                <a:latin typeface="Segoe UI Semibold"/>
              </a:rPr>
              <a:t>40 points</a:t>
            </a:r>
          </a:p>
        </p:txBody>
      </p:sp>
      <p:sp>
        <p:nvSpPr>
          <p:cNvPr id="24" name="Card note"/>
          <p:cNvSpPr txBox="1"/>
          <p:nvPr/>
        </p:nvSpPr>
        <p:spPr>
          <a:xfrm>
            <a:off x="2403000" y="6624000"/>
            <a:ext cx="1107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Infrared multi-touch</a:t>
            </a:r>
          </a:p>
        </p:txBody>
      </p:sp>
      <p:sp>
        <p:nvSpPr>
          <p:cNvPr id="25" name="Card"/>
          <p:cNvSpPr/>
          <p:nvPr/>
        </p:nvSpPr>
        <p:spPr>
          <a:xfrm>
            <a:off x="3870000" y="6156000"/>
            <a:ext cx="1467000" cy="756000"/>
          </a:xfrm>
          <a:prstGeom prst="roundRect">
            <a:avLst>
              <a:gd name="adj" fmla="val 14285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value"/>
          <p:cNvSpPr txBox="1"/>
          <p:nvPr/>
        </p:nvSpPr>
        <p:spPr>
          <a:xfrm>
            <a:off x="4050000" y="6282000"/>
            <a:ext cx="1107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lang="en-US">
                <a:solidFill>
                  <a:srgbClr val="0B1B2B"/>
                </a:solidFill>
                <a:latin typeface="Segoe UI Semibold"/>
              </a:rPr>
              <a:t>≤ 5 ms</a:t>
            </a:r>
          </a:p>
        </p:txBody>
      </p:sp>
      <p:sp>
        <p:nvSpPr>
          <p:cNvPr id="27" name="Card note"/>
          <p:cNvSpPr txBox="1"/>
          <p:nvPr/>
        </p:nvSpPr>
        <p:spPr>
          <a:xfrm>
            <a:off x="4050000" y="6624000"/>
            <a:ext cx="1107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Touch response</a:t>
            </a:r>
          </a:p>
        </p:txBody>
      </p:sp>
      <p:sp>
        <p:nvSpPr>
          <p:cNvPr id="28" name="Card"/>
          <p:cNvSpPr/>
          <p:nvPr/>
        </p:nvSpPr>
        <p:spPr>
          <a:xfrm>
            <a:off x="5517000" y="6156000"/>
            <a:ext cx="1467000" cy="756000"/>
          </a:xfrm>
          <a:prstGeom prst="roundRect">
            <a:avLst>
              <a:gd name="adj" fmla="val 14285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value"/>
          <p:cNvSpPr txBox="1"/>
          <p:nvPr/>
        </p:nvSpPr>
        <p:spPr>
          <a:xfrm>
            <a:off x="5697000" y="6282000"/>
            <a:ext cx="1107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lang="en-US">
                <a:solidFill>
                  <a:srgbClr val="0B1B2B"/>
                </a:solidFill>
                <a:latin typeface="Segoe UI Semibold"/>
              </a:rPr>
              <a:t>178°</a:t>
            </a:r>
          </a:p>
        </p:txBody>
      </p:sp>
      <p:sp>
        <p:nvSpPr>
          <p:cNvPr id="30" name="Card note"/>
          <p:cNvSpPr txBox="1"/>
          <p:nvPr/>
        </p:nvSpPr>
        <p:spPr>
          <a:xfrm>
            <a:off x="5697000" y="6624000"/>
            <a:ext cx="1107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Viewing angle</a:t>
            </a:r>
          </a:p>
        </p:txBody>
      </p:sp>
      <p:sp>
        <p:nvSpPr>
          <p:cNvPr id="31" name="Rule"/>
          <p:cNvSpPr/>
          <p:nvPr/>
        </p:nvSpPr>
        <p:spPr>
          <a:xfrm>
            <a:off x="576000" y="7128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abel"/>
          <p:cNvSpPr txBox="1"/>
          <p:nvPr/>
        </p:nvSpPr>
        <p:spPr>
          <a:xfrm>
            <a:off x="576000" y="7243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Key features</a:t>
            </a:r>
          </a:p>
        </p:txBody>
      </p:sp>
      <p:sp>
        <p:nvSpPr>
          <p:cNvPr id="33" name="Key features"/>
          <p:cNvSpPr txBox="1"/>
          <p:nvPr/>
        </p:nvSpPr>
        <p:spPr>
          <a:xfrm>
            <a:off x="576000" y="7488000"/>
            <a:ext cx="3024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Zero bonding: near-zero gap between glass and panel, less reflection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4 mm Mohs 7 anti-glare, explosion-proof tempered glass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Write and annotate over any input source</a:t>
            </a:r>
          </a:p>
        </p:txBody>
      </p:sp>
      <p:sp>
        <p:nvSpPr>
          <p:cNvPr id="34" name="Key features"/>
          <p:cNvSpPr txBox="1"/>
          <p:nvPr/>
        </p:nvSpPr>
        <p:spPr>
          <a:xfrm>
            <a:off x="3960000" y="7488000"/>
            <a:ext cx="3024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Cast from a PC, iPad or phone: up to 4 screens at once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Three-finger touch turns the screen off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Light sensor and one-touch eye protection</a:t>
            </a:r>
          </a:p>
        </p:txBody>
      </p:sp>
      <p:sp>
        <p:nvSpPr>
          <p:cNvPr id="35" name="Rule"/>
          <p:cNvSpPr/>
          <p:nvPr/>
        </p:nvSpPr>
        <p:spPr>
          <a:xfrm>
            <a:off x="576000" y="8712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abel"/>
          <p:cNvSpPr txBox="1"/>
          <p:nvPr/>
        </p:nvSpPr>
        <p:spPr>
          <a:xfrm>
            <a:off x="576000" y="8827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Use cases</a:t>
            </a:r>
          </a:p>
        </p:txBody>
      </p:sp>
      <p:sp>
        <p:nvSpPr>
          <p:cNvPr id="37" name="Use case"/>
          <p:cNvSpPr/>
          <p:nvPr/>
        </p:nvSpPr>
        <p:spPr>
          <a:xfrm>
            <a:off x="576000" y="9054000"/>
            <a:ext cx="2040000" cy="45000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se case title"/>
          <p:cNvSpPr txBox="1"/>
          <p:nvPr/>
        </p:nvSpPr>
        <p:spPr>
          <a:xfrm>
            <a:off x="720000" y="9122400"/>
            <a:ext cx="17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0B1B2B"/>
                </a:solidFill>
                <a:latin typeface="Segoe UI Semibold"/>
              </a:rPr>
              <a:t>Lecture halls</a:t>
            </a:r>
          </a:p>
        </p:txBody>
      </p:sp>
      <p:sp>
        <p:nvSpPr>
          <p:cNvPr id="39" name="Use case note"/>
          <p:cNvSpPr txBox="1"/>
          <p:nvPr/>
        </p:nvSpPr>
        <p:spPr>
          <a:xfrm>
            <a:off x="720000" y="9302400"/>
            <a:ext cx="17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Universities and auditoriums</a:t>
            </a:r>
          </a:p>
        </p:txBody>
      </p:sp>
      <p:sp>
        <p:nvSpPr>
          <p:cNvPr id="40" name="Use case"/>
          <p:cNvSpPr/>
          <p:nvPr/>
        </p:nvSpPr>
        <p:spPr>
          <a:xfrm>
            <a:off x="2760000" y="9054000"/>
            <a:ext cx="2040000" cy="45000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se case title"/>
          <p:cNvSpPr txBox="1"/>
          <p:nvPr/>
        </p:nvSpPr>
        <p:spPr>
          <a:xfrm>
            <a:off x="2904000" y="9122400"/>
            <a:ext cx="17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0B1B2B"/>
                </a:solidFill>
                <a:latin typeface="Segoe UI Semibold"/>
              </a:rPr>
              <a:t>Training centres</a:t>
            </a:r>
          </a:p>
        </p:txBody>
      </p:sp>
      <p:sp>
        <p:nvSpPr>
          <p:cNvPr id="42" name="Use case note"/>
          <p:cNvSpPr txBox="1"/>
          <p:nvPr/>
        </p:nvSpPr>
        <p:spPr>
          <a:xfrm>
            <a:off x="2904000" y="9302400"/>
            <a:ext cx="17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Corporate and vocational courses</a:t>
            </a:r>
          </a:p>
        </p:txBody>
      </p:sp>
      <p:sp>
        <p:nvSpPr>
          <p:cNvPr id="43" name="Use case"/>
          <p:cNvSpPr/>
          <p:nvPr/>
        </p:nvSpPr>
        <p:spPr>
          <a:xfrm>
            <a:off x="4944000" y="9054000"/>
            <a:ext cx="2040000" cy="45000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se case title"/>
          <p:cNvSpPr txBox="1"/>
          <p:nvPr/>
        </p:nvSpPr>
        <p:spPr>
          <a:xfrm>
            <a:off x="5088000" y="9122400"/>
            <a:ext cx="17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0B1B2B"/>
                </a:solidFill>
                <a:latin typeface="Segoe UI Semibold"/>
              </a:rPr>
              <a:t>Online teaching</a:t>
            </a:r>
          </a:p>
        </p:txBody>
      </p:sp>
      <p:sp>
        <p:nvSpPr>
          <p:cNvPr id="45" name="Use case note"/>
          <p:cNvSpPr txBox="1"/>
          <p:nvPr/>
        </p:nvSpPr>
        <p:spPr>
          <a:xfrm>
            <a:off x="5088000" y="9302400"/>
            <a:ext cx="17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Live and recorded remote lessons</a:t>
            </a:r>
          </a:p>
        </p:txBody>
      </p:sp>
      <p:sp>
        <p:nvSpPr>
          <p:cNvPr id="46" name="Use case"/>
          <p:cNvSpPr/>
          <p:nvPr/>
        </p:nvSpPr>
        <p:spPr>
          <a:xfrm>
            <a:off x="576000" y="9594000"/>
            <a:ext cx="2040000" cy="45000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se case title"/>
          <p:cNvSpPr txBox="1"/>
          <p:nvPr/>
        </p:nvSpPr>
        <p:spPr>
          <a:xfrm>
            <a:off x="720000" y="9662400"/>
            <a:ext cx="17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0B1B2B"/>
                </a:solidFill>
                <a:latin typeface="Segoe UI Semibold"/>
              </a:rPr>
              <a:t>Boardrooms</a:t>
            </a:r>
          </a:p>
        </p:txBody>
      </p:sp>
      <p:sp>
        <p:nvSpPr>
          <p:cNvPr id="48" name="Use case note"/>
          <p:cNvSpPr txBox="1"/>
          <p:nvPr/>
        </p:nvSpPr>
        <p:spPr>
          <a:xfrm>
            <a:off x="720000" y="9842400"/>
            <a:ext cx="17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Presentations and reviews</a:t>
            </a:r>
          </a:p>
        </p:txBody>
      </p:sp>
      <p:sp>
        <p:nvSpPr>
          <p:cNvPr id="49" name="Use case"/>
          <p:cNvSpPr/>
          <p:nvPr/>
        </p:nvSpPr>
        <p:spPr>
          <a:xfrm>
            <a:off x="2760000" y="9594000"/>
            <a:ext cx="2040000" cy="45000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Use case title"/>
          <p:cNvSpPr txBox="1"/>
          <p:nvPr/>
        </p:nvSpPr>
        <p:spPr>
          <a:xfrm>
            <a:off x="2904000" y="9662400"/>
            <a:ext cx="17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0B1B2B"/>
                </a:solidFill>
                <a:latin typeface="Segoe UI Semibold"/>
              </a:rPr>
              <a:t>Video conferencing</a:t>
            </a:r>
          </a:p>
        </p:txBody>
      </p:sp>
      <p:sp>
        <p:nvSpPr>
          <p:cNvPr id="51" name="Use case note"/>
          <p:cNvSpPr txBox="1"/>
          <p:nvPr/>
        </p:nvSpPr>
        <p:spPr>
          <a:xfrm>
            <a:off x="2904000" y="9842400"/>
            <a:ext cx="17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Hybrid meetings with remote teams</a:t>
            </a:r>
          </a:p>
        </p:txBody>
      </p:sp>
      <p:sp>
        <p:nvSpPr>
          <p:cNvPr id="52" name="Use case"/>
          <p:cNvSpPr/>
          <p:nvPr/>
        </p:nvSpPr>
        <p:spPr>
          <a:xfrm>
            <a:off x="4944000" y="9594000"/>
            <a:ext cx="2040000" cy="450000"/>
          </a:xfrm>
          <a:prstGeom prst="roundRect">
            <a:avLst>
              <a:gd name="adj" fmla="val 20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se case title"/>
          <p:cNvSpPr txBox="1"/>
          <p:nvPr/>
        </p:nvSpPr>
        <p:spPr>
          <a:xfrm>
            <a:off x="5088000" y="9662400"/>
            <a:ext cx="1752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0B1B2B"/>
                </a:solidFill>
                <a:latin typeface="Segoe UI Semibold"/>
              </a:rPr>
              <a:t>Workshops</a:t>
            </a:r>
          </a:p>
        </p:txBody>
      </p:sp>
      <p:sp>
        <p:nvSpPr>
          <p:cNvPr id="54" name="Use case note"/>
          <p:cNvSpPr txBox="1"/>
          <p:nvPr/>
        </p:nvSpPr>
        <p:spPr>
          <a:xfrm>
            <a:off x="5088000" y="9842400"/>
            <a:ext cx="17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Brainstorming and project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6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Configurations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566270"/>
                </a:solidFill>
                <a:latin typeface="Segoe UI"/>
              </a:rPr>
              <a:t>E5 series  ·  12 configurations, each available in every size</a:t>
            </a:r>
          </a:p>
        </p:txBody>
      </p:sp>
      <p:sp>
        <p:nvSpPr>
          <p:cNvPr id="8" name="Product stage"/>
          <p:cNvSpPr/>
          <p:nvPr/>
        </p:nvSpPr>
        <p:spPr>
          <a:xfrm>
            <a:off x="576000" y="1728000"/>
            <a:ext cx="6408000" cy="2808000"/>
          </a:xfrm>
          <a:prstGeom prst="roundRect">
            <a:avLst>
              <a:gd name="adj" fmla="val 3846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E5 interactive flat panel display, front view" descr="E5 interactive flat panel display, front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40" y="1872000"/>
            <a:ext cx="3072787" cy="237600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432000" y="4266000"/>
            <a:ext cx="37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 dirty="0">
                <a:solidFill>
                  <a:srgbClr val="09678F"/>
                </a:solidFill>
                <a:latin typeface="Segoe UI Semibold"/>
              </a:rPr>
              <a:t>Front view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4284000" y="4266000"/>
            <a:ext cx="216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 dirty="0">
                <a:solidFill>
                  <a:srgbClr val="09678F"/>
                </a:solidFill>
                <a:latin typeface="Segoe UI Semibold"/>
              </a:rPr>
              <a:t>Rear view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F5E479D-42C1-08D5-AC5C-F7C7F866E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392" y="1523810"/>
            <a:ext cx="3773919" cy="3300190"/>
          </a:xfrm>
          <a:prstGeom prst="rect">
            <a:avLst/>
          </a:prstGeom>
        </p:spPr>
      </p:pic>
      <p:graphicFrame>
        <p:nvGraphicFramePr>
          <p:cNvPr id="28" name="Configurations"/>
          <p:cNvGraphicFramePr>
            <a:graphicFrameLocks noGrp="1"/>
          </p:cNvGraphicFramePr>
          <p:nvPr/>
        </p:nvGraphicFramePr>
        <p:xfrm>
          <a:off x="576000" y="4788000"/>
          <a:ext cx="6408000" cy="16200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80000"/>
                <a:gridCol w="864000"/>
                <a:gridCol w="2664000"/>
                <a:gridCol w="1800000"/>
              </a:tblGrid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Platform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Android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RAM + storage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Mainboard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MT9679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4 + 32 GB  ·  8 + 128 GB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Simplified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V100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8 + 128 GB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Simplified or full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RK3576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8 + 128 GB  ·  16 + 256 GB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Simplified or full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RK3588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8 + 128 GB  ·  16 + 256 GB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Simplified or full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Label"/>
          <p:cNvSpPr txBox="1"/>
          <p:nvPr/>
        </p:nvSpPr>
        <p:spPr>
          <a:xfrm>
            <a:off x="576000" y="6624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Mainboard options</a:t>
            </a:r>
          </a:p>
        </p:txBody>
      </p:sp>
      <p:sp>
        <p:nvSpPr>
          <p:cNvPr id="30" name="Mainboard card"/>
          <p:cNvSpPr/>
          <p:nvPr/>
        </p:nvSpPr>
        <p:spPr>
          <a:xfrm>
            <a:off x="576000" y="684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inboard title"/>
          <p:cNvSpPr txBox="1"/>
          <p:nvPr/>
        </p:nvSpPr>
        <p:spPr>
          <a:xfrm>
            <a:off x="756000" y="69660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lang="en-US">
                <a:solidFill>
                  <a:srgbClr val="0B1B2B"/>
                </a:solidFill>
                <a:latin typeface="Segoe UI Semibold"/>
              </a:rPr>
              <a:t>Simplified board</a:t>
            </a:r>
          </a:p>
        </p:txBody>
      </p:sp>
      <p:sp>
        <p:nvSpPr>
          <p:cNvPr id="32" name="Mainboard note"/>
          <p:cNvSpPr txBox="1"/>
          <p:nvPr/>
        </p:nvSpPr>
        <p:spPr>
          <a:xfrm>
            <a:off x="756000" y="7182000"/>
            <a:ext cx="2736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The essential ports, for rooms with one main source.</a:t>
            </a:r>
          </a:p>
        </p:txBody>
      </p:sp>
      <p:sp>
        <p:nvSpPr>
          <p:cNvPr id="33" name="Mainboard ports"/>
          <p:cNvSpPr txBox="1"/>
          <p:nvPr/>
        </p:nvSpPr>
        <p:spPr>
          <a:xfrm>
            <a:off x="756000" y="7416000"/>
            <a:ext cx="2736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0000"/>
              </a:lnSpc>
              <a:spcAft>
                <a:spcPts val="100"/>
              </a:spcAft>
              <a:buClr>
                <a:srgbClr val="0E9BD6"/>
              </a:buClr>
              <a:buFont typeface="Arial"/>
              <a:buChar char="•"/>
            </a:pPr>
            <a:r>
              <a:rPr sz="950" b="0" lang="en-US">
                <a:solidFill>
                  <a:srgbClr val="1B2733"/>
                </a:solidFill>
                <a:latin typeface="Segoe UI"/>
              </a:rPr>
              <a:t>1 × HDMI in, 1 × HDMI out</a:t>
            </a:r>
          </a:p>
          <a:p>
            <a:pPr algn="l" marL="151200" indent="-151200">
              <a:lnSpc>
                <a:spcPct val="100000"/>
              </a:lnSpc>
              <a:spcAft>
                <a:spcPts val="100"/>
              </a:spcAft>
              <a:buClr>
                <a:srgbClr val="0E9BD6"/>
              </a:buClr>
              <a:buFont typeface="Arial"/>
              <a:buChar char="•"/>
            </a:pPr>
            <a:r>
              <a:rPr sz="950" b="0" lang="en-US">
                <a:solidFill>
                  <a:srgbClr val="1B2733"/>
                </a:solidFill>
                <a:latin typeface="Segoe UI"/>
              </a:rPr>
              <a:t>1 × LAN, USB, Type-C</a:t>
            </a:r>
          </a:p>
          <a:p>
            <a:pPr algn="l" marL="151200" indent="-151200">
              <a:lnSpc>
                <a:spcPct val="100000"/>
              </a:lnSpc>
              <a:spcAft>
                <a:spcPts val="100"/>
              </a:spcAft>
              <a:buClr>
                <a:srgbClr val="0E9BD6"/>
              </a:buClr>
              <a:buFont typeface="Arial"/>
              <a:buChar char="•"/>
            </a:pPr>
            <a:r>
              <a:rPr sz="950" b="0" lang="en-US">
                <a:solidFill>
                  <a:srgbClr val="1B2733"/>
                </a:solidFill>
                <a:latin typeface="Segoe UI"/>
              </a:rPr>
              <a:t>Audio in and out, RS232</a:t>
            </a:r>
          </a:p>
        </p:txBody>
      </p:sp>
      <p:sp>
        <p:nvSpPr>
          <p:cNvPr id="34" name="Mainboard card"/>
          <p:cNvSpPr/>
          <p:nvPr/>
        </p:nvSpPr>
        <p:spPr>
          <a:xfrm>
            <a:off x="3888000" y="684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ainboard title"/>
          <p:cNvSpPr txBox="1"/>
          <p:nvPr/>
        </p:nvSpPr>
        <p:spPr>
          <a:xfrm>
            <a:off x="4068000" y="69660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lang="en-US">
                <a:solidFill>
                  <a:srgbClr val="0B1B2B"/>
                </a:solidFill>
                <a:latin typeface="Segoe UI Semibold"/>
              </a:rPr>
              <a:t>Full board</a:t>
            </a:r>
          </a:p>
        </p:txBody>
      </p:sp>
      <p:sp>
        <p:nvSpPr>
          <p:cNvPr id="36" name="Mainboard note"/>
          <p:cNvSpPr txBox="1"/>
          <p:nvPr/>
        </p:nvSpPr>
        <p:spPr>
          <a:xfrm>
            <a:off x="4068000" y="7182000"/>
            <a:ext cx="2736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Extra inputs, for rooms that connect several sources.</a:t>
            </a:r>
          </a:p>
        </p:txBody>
      </p:sp>
      <p:sp>
        <p:nvSpPr>
          <p:cNvPr id="37" name="Mainboard ports"/>
          <p:cNvSpPr txBox="1"/>
          <p:nvPr/>
        </p:nvSpPr>
        <p:spPr>
          <a:xfrm>
            <a:off x="4068000" y="7416000"/>
            <a:ext cx="2736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0000"/>
              </a:lnSpc>
              <a:spcAft>
                <a:spcPts val="100"/>
              </a:spcAft>
              <a:buClr>
                <a:srgbClr val="0E9BD6"/>
              </a:buClr>
              <a:buFont typeface="Arial"/>
              <a:buChar char="•"/>
            </a:pPr>
            <a:r>
              <a:rPr sz="950" b="0" lang="en-US">
                <a:solidFill>
                  <a:srgbClr val="1B2733"/>
                </a:solidFill>
                <a:latin typeface="Segoe UI"/>
              </a:rPr>
              <a:t>RK3576: 2 × HDMI in, DP, VGA, 65 W USB-C</a:t>
            </a:r>
          </a:p>
          <a:p>
            <a:pPr algn="l" marL="151200" indent="-151200">
              <a:lnSpc>
                <a:spcPct val="100000"/>
              </a:lnSpc>
              <a:spcAft>
                <a:spcPts val="100"/>
              </a:spcAft>
              <a:buClr>
                <a:srgbClr val="0E9BD6"/>
              </a:buClr>
              <a:buFont typeface="Arial"/>
              <a:buChar char="•"/>
            </a:pPr>
            <a:r>
              <a:rPr sz="950" b="0" lang="en-US">
                <a:solidFill>
                  <a:srgbClr val="1B2733"/>
                </a:solidFill>
                <a:latin typeface="Segoe UI"/>
              </a:rPr>
              <a:t>RK3588: 3 × HDMI in, DP, VGA, USB-C in</a:t>
            </a:r>
          </a:p>
          <a:p>
            <a:pPr algn="l" marL="151200" indent="-151200">
              <a:lnSpc>
                <a:spcPct val="100000"/>
              </a:lnSpc>
              <a:spcAft>
                <a:spcPts val="100"/>
              </a:spcAft>
              <a:buClr>
                <a:srgbClr val="0E9BD6"/>
              </a:buClr>
              <a:buFont typeface="Arial"/>
              <a:buChar char="•"/>
            </a:pPr>
            <a:r>
              <a:rPr sz="950" b="0" lang="en-US">
                <a:solidFill>
                  <a:srgbClr val="1B2733"/>
                </a:solidFill>
                <a:latin typeface="Segoe UI"/>
              </a:rPr>
              <a:t>2 × LAN, more USB 3.0 ports</a:t>
            </a:r>
          </a:p>
        </p:txBody>
      </p:sp>
      <p:pic>
        <p:nvPicPr>
          <p:cNvPr id="38" name="Presenter at a smartboard on a mobile stand with a team at a" descr="Presenter at a smartboard on a mobile stand with a team at a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8316000"/>
            <a:ext cx="2880000" cy="1680000"/>
          </a:xfrm>
          <a:prstGeom prst="roundRect">
            <a:avLst>
              <a:gd name="adj" fmla="val 5357"/>
            </a:avLst>
          </a:prstGeom>
        </p:spPr>
      </p:pic>
      <p:sp>
        <p:nvSpPr>
          <p:cNvPr id="39" name="Caption"/>
          <p:cNvSpPr txBox="1"/>
          <p:nvPr/>
        </p:nvSpPr>
        <p:spPr>
          <a:xfrm>
            <a:off x="576000" y="10062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>
                <a:solidFill>
                  <a:srgbClr val="566270"/>
                </a:solidFill>
                <a:latin typeface="Segoe UI"/>
              </a:rPr>
              <a:t>Team training on a mobile stand</a:t>
            </a:r>
          </a:p>
        </p:txBody>
      </p:sp>
      <p:sp>
        <p:nvSpPr>
          <p:cNvPr id="40" name="Label"/>
          <p:cNvSpPr txBox="1"/>
          <p:nvPr/>
        </p:nvSpPr>
        <p:spPr>
          <a:xfrm>
            <a:off x="3744000" y="83160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Highlights</a:t>
            </a:r>
          </a:p>
        </p:txBody>
      </p:sp>
      <p:sp>
        <p:nvSpPr>
          <p:cNvPr id="41" name="Highlight label"/>
          <p:cNvSpPr txBox="1"/>
          <p:nvPr/>
        </p:nvSpPr>
        <p:spPr>
          <a:xfrm>
            <a:off x="3744000" y="85500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>
                <a:solidFill>
                  <a:srgbClr val="566270"/>
                </a:solidFill>
                <a:latin typeface="Segoe UI"/>
              </a:rPr>
              <a:t>Optional camera + 8-array mic</a:t>
            </a:r>
          </a:p>
        </p:txBody>
      </p:sp>
      <p:sp>
        <p:nvSpPr>
          <p:cNvPr id="42" name="Highlight value"/>
          <p:cNvSpPr txBox="1"/>
          <p:nvPr/>
        </p:nvSpPr>
        <p:spPr>
          <a:xfrm>
            <a:off x="3744000" y="8694000"/>
            <a:ext cx="324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0B1B2B"/>
                </a:solidFill>
                <a:latin typeface="Segoe UI Semibold"/>
              </a:rPr>
              <a:t>13 or 48 MP, 8–12 m pickup</a:t>
            </a:r>
          </a:p>
        </p:txBody>
      </p:sp>
      <p:sp>
        <p:nvSpPr>
          <p:cNvPr id="43" name="Highlight label"/>
          <p:cNvSpPr txBox="1"/>
          <p:nvPr/>
        </p:nvSpPr>
        <p:spPr>
          <a:xfrm>
            <a:off x="3744000" y="89460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>
                <a:solidFill>
                  <a:srgbClr val="566270"/>
                </a:solidFill>
                <a:latin typeface="Segoe UI"/>
              </a:rPr>
              <a:t>Speakers</a:t>
            </a:r>
          </a:p>
        </p:txBody>
      </p:sp>
      <p:sp>
        <p:nvSpPr>
          <p:cNvPr id="44" name="Highlight value"/>
          <p:cNvSpPr txBox="1"/>
          <p:nvPr/>
        </p:nvSpPr>
        <p:spPr>
          <a:xfrm>
            <a:off x="3744000" y="9090000"/>
            <a:ext cx="324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0B1B2B"/>
                </a:solidFill>
                <a:latin typeface="Segoe UI Semibold"/>
              </a:rPr>
              <a:t>15 W × 2 + 5 W × 2 + 20 W</a:t>
            </a:r>
          </a:p>
        </p:txBody>
      </p:sp>
      <p:sp>
        <p:nvSpPr>
          <p:cNvPr id="45" name="Highlight label"/>
          <p:cNvSpPr txBox="1"/>
          <p:nvPr/>
        </p:nvSpPr>
        <p:spPr>
          <a:xfrm>
            <a:off x="3744000" y="93420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>
                <a:solidFill>
                  <a:srgbClr val="566270"/>
                </a:solidFill>
                <a:latin typeface="Segoe UI"/>
              </a:rPr>
              <a:t>Wireless</a:t>
            </a:r>
          </a:p>
        </p:txBody>
      </p:sp>
      <p:sp>
        <p:nvSpPr>
          <p:cNvPr id="46" name="Highlight value"/>
          <p:cNvSpPr txBox="1"/>
          <p:nvPr/>
        </p:nvSpPr>
        <p:spPr>
          <a:xfrm>
            <a:off x="3744000" y="9486000"/>
            <a:ext cx="324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0B1B2B"/>
                </a:solidFill>
                <a:latin typeface="Segoe UI Semibold"/>
              </a:rPr>
              <a:t>Wi-Fi 6 and Bluetooth</a:t>
            </a:r>
          </a:p>
        </p:txBody>
      </p:sp>
      <p:sp>
        <p:nvSpPr>
          <p:cNvPr id="47" name="Highlight label"/>
          <p:cNvSpPr txBox="1"/>
          <p:nvPr/>
        </p:nvSpPr>
        <p:spPr>
          <a:xfrm>
            <a:off x="3744000" y="9738000"/>
            <a:ext cx="324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>
                <a:solidFill>
                  <a:srgbClr val="566270"/>
                </a:solidFill>
                <a:latin typeface="Segoe UI"/>
              </a:rPr>
              <a:t>OPS slot</a:t>
            </a:r>
          </a:p>
        </p:txBody>
      </p:sp>
      <p:sp>
        <p:nvSpPr>
          <p:cNvPr id="48" name="Highlight value"/>
          <p:cNvSpPr txBox="1"/>
          <p:nvPr/>
        </p:nvSpPr>
        <p:spPr>
          <a:xfrm>
            <a:off x="3744000" y="9882000"/>
            <a:ext cx="324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0B1B2B"/>
                </a:solidFill>
                <a:latin typeface="Segoe UI Semibold"/>
              </a:rPr>
              <a:t>Windows PC on MT9679 and RK3576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7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Applications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576000" y="14400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For Meeting Room</a:t>
            </a:r>
          </a:p>
        </p:txBody>
      </p:sp>
      <p:pic>
        <p:nvPicPr>
          <p:cNvPr id="8" name="Smartboard on a mobile stand in a meeting room" descr="Smartboard on a mobile stand in a meeting room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64000" y="1692000"/>
            <a:ext cx="4032000" cy="4032000"/>
          </a:xfrm>
          <a:prstGeom prst="roundRect">
            <a:avLst>
              <a:gd name="adj" fmla="val 2678"/>
            </a:avLst>
          </a:prstGeom>
        </p:spPr>
      </p:pic>
      <p:sp>
        <p:nvSpPr>
          <p:cNvPr id="18" name="Arrow"/>
          <p:cNvSpPr/>
          <p:nvPr/>
        </p:nvSpPr>
        <p:spPr>
          <a:xfrm>
            <a:off x="3024000" y="6012000"/>
            <a:ext cx="288000" cy="324000"/>
          </a:xfrm>
          <a:prstGeom prst="downArrow">
            <a:avLst/>
          </a:prstGeom>
          <a:solidFill>
            <a:srgbClr val="0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ransition label"/>
          <p:cNvSpPr txBox="1"/>
          <p:nvPr/>
        </p:nvSpPr>
        <p:spPr>
          <a:xfrm>
            <a:off x="3456000" y="6012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400" b="0">
                <a:solidFill>
                  <a:srgbClr val="09678F"/>
                </a:solidFill>
                <a:latin typeface="Segoe UI Semibold"/>
              </a:rPr>
              <a:t>Turn it into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576000" y="66960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For Classroom</a:t>
            </a:r>
          </a:p>
        </p:txBody>
      </p:sp>
      <p:sp>
        <p:nvSpPr>
          <p:cNvPr id="21" name="Product stage"/>
          <p:cNvSpPr/>
          <p:nvPr/>
        </p:nvSpPr>
        <p:spPr>
          <a:xfrm>
            <a:off x="576000" y="6948000"/>
            <a:ext cx="3096000" cy="2160000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Classroom board with side boards opened" descr="Classroom board with side boards ope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7232275"/>
            <a:ext cx="2736000" cy="1015451"/>
          </a:xfrm>
          <a:prstGeom prst="rect">
            <a:avLst/>
          </a:prstGeom>
        </p:spPr>
      </p:pic>
      <p:sp>
        <p:nvSpPr>
          <p:cNvPr id="23" name="Caption"/>
          <p:cNvSpPr txBox="1"/>
          <p:nvPr/>
        </p:nvSpPr>
        <p:spPr>
          <a:xfrm>
            <a:off x="756000" y="8748000"/>
            <a:ext cx="2736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>
                <a:solidFill>
                  <a:srgbClr val="0B1B2B"/>
                </a:solidFill>
                <a:latin typeface="Segoe UI Semibold"/>
              </a:rPr>
              <a:t>Side boards opened</a:t>
            </a:r>
          </a:p>
        </p:txBody>
      </p:sp>
      <p:sp>
        <p:nvSpPr>
          <p:cNvPr id="24" name="Product stage"/>
          <p:cNvSpPr/>
          <p:nvPr/>
        </p:nvSpPr>
        <p:spPr>
          <a:xfrm>
            <a:off x="3888000" y="6948000"/>
            <a:ext cx="3096000" cy="2160000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Classroom board with side boards closed" descr="Classroom board with side boards clos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000" y="7267311"/>
            <a:ext cx="2736000" cy="945378"/>
          </a:xfrm>
          <a:prstGeom prst="rect">
            <a:avLst/>
          </a:prstGeom>
        </p:spPr>
      </p:pic>
      <p:sp>
        <p:nvSpPr>
          <p:cNvPr id="26" name="Caption"/>
          <p:cNvSpPr txBox="1"/>
          <p:nvPr/>
        </p:nvSpPr>
        <p:spPr>
          <a:xfrm>
            <a:off x="4068000" y="8748000"/>
            <a:ext cx="2736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>
                <a:solidFill>
                  <a:srgbClr val="0B1B2B"/>
                </a:solidFill>
                <a:latin typeface="Segoe UI Semibold"/>
              </a:rPr>
              <a:t>Side boards closed</a:t>
            </a:r>
          </a:p>
        </p:txBody>
      </p:sp>
      <p:sp>
        <p:nvSpPr>
          <p:cNvPr id="27" name="Side board note"/>
          <p:cNvSpPr txBox="1"/>
          <p:nvPr/>
        </p:nvSpPr>
        <p:spPr>
          <a:xfrm>
            <a:off x="576000" y="9288000"/>
            <a:ext cx="6408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Side boards: whiteboard or greenboard surface, sized to match the main display.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09678F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8</a:t>
            </a:fld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lang="en-US">
                <a:solidFill>
                  <a:srgbClr val="0B1B2B"/>
                </a:solidFill>
                <a:latin typeface="Segoe UI Semibold"/>
              </a:rPr>
              <a:t>Smart Nano Blackboard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566270"/>
                </a:solidFill>
                <a:latin typeface="Segoe UI"/>
              </a:rPr>
              <a:t>4K touch screen set in a seamless, chalk-writable black board</a:t>
            </a:r>
          </a:p>
        </p:txBody>
      </p:sp>
      <p:sp>
        <p:nvSpPr>
          <p:cNvPr id="8" name="Image panel"/>
          <p:cNvSpPr/>
          <p:nvPr/>
        </p:nvSpPr>
        <p:spPr>
          <a:xfrm>
            <a:off x="576000" y="1728000"/>
            <a:ext cx="6408000" cy="237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mart nano blackboard, front view" descr="Smart nano blackboard, front 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364" y="1872000"/>
            <a:ext cx="3217272" cy="2088000"/>
          </a:xfrm>
          <a:prstGeom prst="rect">
            <a:avLst/>
          </a:prstGeom>
        </p:spPr>
      </p:pic>
      <p:pic>
        <p:nvPicPr>
          <p:cNvPr id="10" name="Nano blackboard wall-mounted in a classroom, chalk writing o" descr="Nano blackboard wall-mounted in a classroom, chalk writing on the side boards"/>
          <p:cNvPicPr>
            <a:picLocks noChangeAspect="1"/>
          </p:cNvPicPr>
          <p:nvPr/>
        </p:nvPicPr>
        <p:blipFill>
          <a:blip r:embed="rId5"/>
          <a:srcRect t="12443" b="29034"/>
          <a:stretch>
            <a:fillRect/>
          </a:stretch>
        </p:blipFill>
        <p:spPr>
          <a:xfrm>
            <a:off x="576000" y="4320000"/>
            <a:ext cx="3096000" cy="2016000"/>
          </a:xfrm>
          <a:prstGeom prst="roundRect">
            <a:avLst>
              <a:gd name="adj" fmla="val 5357"/>
            </a:avLst>
          </a:prstGeom>
        </p:spPr>
      </p:pic>
      <p:sp>
        <p:nvSpPr>
          <p:cNvPr id="11" name="Image panel"/>
          <p:cNvSpPr/>
          <p:nvPr/>
        </p:nvSpPr>
        <p:spPr>
          <a:xfrm>
            <a:off x="3888000" y="4320000"/>
            <a:ext cx="3096000" cy="2016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Nano blackboard on a mobile stand" descr="Nano blackboard on a mobile sta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000" y="4485600"/>
            <a:ext cx="2808000" cy="168480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576000" y="6408000"/>
            <a:ext cx="3096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Wall-mounted in a classroom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3888000" y="6408000"/>
            <a:ext cx="3096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On a mobile stand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576000" y="67680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Available sizes</a:t>
            </a:r>
          </a:p>
        </p:txBody>
      </p:sp>
      <p:sp>
        <p:nvSpPr>
          <p:cNvPr id="16" name="Chip 75&quot;"/>
          <p:cNvSpPr/>
          <p:nvPr/>
        </p:nvSpPr>
        <p:spPr>
          <a:xfrm>
            <a:off x="576000" y="6984000"/>
            <a:ext cx="582033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lang="en-US">
                <a:solidFill>
                  <a:srgbClr val="1B2733"/>
                </a:solidFill>
                <a:latin typeface="Segoe UI Semibold"/>
              </a:rPr>
              <a:t>75"</a:t>
            </a:r>
          </a:p>
        </p:txBody>
      </p:sp>
      <p:sp>
        <p:nvSpPr>
          <p:cNvPr id="17" name="Chip 86&quot;"/>
          <p:cNvSpPr/>
          <p:nvPr/>
        </p:nvSpPr>
        <p:spPr>
          <a:xfrm>
            <a:off x="1251633" y="6984000"/>
            <a:ext cx="586367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lang="en-US">
                <a:solidFill>
                  <a:srgbClr val="1B2733"/>
                </a:solidFill>
                <a:latin typeface="Segoe UI Semibold"/>
              </a:rPr>
              <a:t>86"</a:t>
            </a:r>
          </a:p>
        </p:txBody>
      </p:sp>
      <p:sp>
        <p:nvSpPr>
          <p:cNvPr id="18" name="Chip 98&quot;"/>
          <p:cNvSpPr/>
          <p:nvPr/>
        </p:nvSpPr>
        <p:spPr>
          <a:xfrm>
            <a:off x="1931600" y="6984000"/>
            <a:ext cx="586367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lang="en-US">
                <a:solidFill>
                  <a:srgbClr val="1B2733"/>
                </a:solidFill>
                <a:latin typeface="Segoe UI Semibold"/>
              </a:rPr>
              <a:t>98"</a:t>
            </a:r>
          </a:p>
        </p:txBody>
      </p:sp>
      <p:sp>
        <p:nvSpPr>
          <p:cNvPr id="19" name="Rule"/>
          <p:cNvSpPr/>
          <p:nvPr/>
        </p:nvSpPr>
        <p:spPr>
          <a:xfrm>
            <a:off x="576000" y="7632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pec label"/>
          <p:cNvSpPr txBox="1"/>
          <p:nvPr/>
        </p:nvSpPr>
        <p:spPr>
          <a:xfrm>
            <a:off x="576000" y="7747200"/>
            <a:ext cx="14805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Display</a:t>
            </a:r>
          </a:p>
        </p:txBody>
      </p:sp>
      <p:sp>
        <p:nvSpPr>
          <p:cNvPr id="21" name="Spec value"/>
          <p:cNvSpPr txBox="1"/>
          <p:nvPr/>
        </p:nvSpPr>
        <p:spPr>
          <a:xfrm>
            <a:off x="576000" y="7956000"/>
            <a:ext cx="1480500" cy="2310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4K UHD · 3840 × 2160</a:t>
            </a:r>
          </a:p>
        </p:txBody>
      </p:sp>
      <p:sp>
        <p:nvSpPr>
          <p:cNvPr id="22" name="Rule"/>
          <p:cNvSpPr/>
          <p:nvPr/>
        </p:nvSpPr>
        <p:spPr>
          <a:xfrm>
            <a:off x="2218500" y="7632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pec label"/>
          <p:cNvSpPr txBox="1"/>
          <p:nvPr/>
        </p:nvSpPr>
        <p:spPr>
          <a:xfrm>
            <a:off x="2218500" y="7747200"/>
            <a:ext cx="14805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Touch</a:t>
            </a:r>
          </a:p>
        </p:txBody>
      </p:sp>
      <p:sp>
        <p:nvSpPr>
          <p:cNvPr id="24" name="Spec value"/>
          <p:cNvSpPr txBox="1"/>
          <p:nvPr/>
        </p:nvSpPr>
        <p:spPr>
          <a:xfrm>
            <a:off x="2218500" y="7956000"/>
            <a:ext cx="1480500" cy="4261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Infrared or capacitive, up to 40 points</a:t>
            </a:r>
          </a:p>
        </p:txBody>
      </p:sp>
      <p:sp>
        <p:nvSpPr>
          <p:cNvPr id="25" name="Rule"/>
          <p:cNvSpPr/>
          <p:nvPr/>
        </p:nvSpPr>
        <p:spPr>
          <a:xfrm>
            <a:off x="3861000" y="7632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pec label"/>
          <p:cNvSpPr txBox="1"/>
          <p:nvPr/>
        </p:nvSpPr>
        <p:spPr>
          <a:xfrm>
            <a:off x="3861000" y="7747200"/>
            <a:ext cx="14805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Operating system</a:t>
            </a:r>
          </a:p>
        </p:txBody>
      </p:sp>
      <p:sp>
        <p:nvSpPr>
          <p:cNvPr id="27" name="Spec value"/>
          <p:cNvSpPr txBox="1"/>
          <p:nvPr/>
        </p:nvSpPr>
        <p:spPr>
          <a:xfrm>
            <a:off x="3861000" y="7956000"/>
            <a:ext cx="1480500" cy="2310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Android + Windows</a:t>
            </a:r>
          </a:p>
        </p:txBody>
      </p:sp>
      <p:sp>
        <p:nvSpPr>
          <p:cNvPr id="28" name="Rule"/>
          <p:cNvSpPr/>
          <p:nvPr/>
        </p:nvSpPr>
        <p:spPr>
          <a:xfrm>
            <a:off x="5503500" y="7632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pec label"/>
          <p:cNvSpPr txBox="1"/>
          <p:nvPr/>
        </p:nvSpPr>
        <p:spPr>
          <a:xfrm>
            <a:off x="5503500" y="7747200"/>
            <a:ext cx="14805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Side boards</a:t>
            </a:r>
          </a:p>
        </p:txBody>
      </p:sp>
      <p:sp>
        <p:nvSpPr>
          <p:cNvPr id="30" name="Spec value"/>
          <p:cNvSpPr txBox="1"/>
          <p:nvPr/>
        </p:nvSpPr>
        <p:spPr>
          <a:xfrm>
            <a:off x="5503500" y="7956000"/>
            <a:ext cx="1480500" cy="4261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00" b="0" lang="en-US">
                <a:solidFill>
                  <a:srgbClr val="1B2733"/>
                </a:solidFill>
                <a:latin typeface="Segoe UI Semibold"/>
              </a:rPr>
              <a:t>Nano surface, magnetic, chalk trough</a:t>
            </a:r>
          </a:p>
        </p:txBody>
      </p:sp>
      <p:sp>
        <p:nvSpPr>
          <p:cNvPr id="31" name="Rule"/>
          <p:cNvSpPr/>
          <p:nvPr/>
        </p:nvSpPr>
        <p:spPr>
          <a:xfrm>
            <a:off x="576000" y="8856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abel"/>
          <p:cNvSpPr txBox="1"/>
          <p:nvPr/>
        </p:nvSpPr>
        <p:spPr>
          <a:xfrm>
            <a:off x="576000" y="897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Key features</a:t>
            </a:r>
          </a:p>
        </p:txBody>
      </p:sp>
      <p:sp>
        <p:nvSpPr>
          <p:cNvPr id="33" name="Key features"/>
          <p:cNvSpPr txBox="1"/>
          <p:nvPr/>
        </p:nvSpPr>
        <p:spPr>
          <a:xfrm>
            <a:off x="576000" y="9216000"/>
            <a:ext cx="302400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00" b="0" lang="en-US">
                <a:solidFill>
                  <a:srgbClr val="1B2733"/>
                </a:solidFill>
                <a:latin typeface="Segoe UI"/>
              </a:rPr>
              <a:t>Screen and side boards form one flat, seamless surface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00" b="0" lang="en-US">
                <a:solidFill>
                  <a:srgbClr val="1B2733"/>
                </a:solidFill>
                <a:latin typeface="Segoe UI"/>
              </a:rPr>
              <a:t>Write with finger, chalk or marker</a:t>
            </a:r>
          </a:p>
        </p:txBody>
      </p:sp>
      <p:sp>
        <p:nvSpPr>
          <p:cNvPr id="34" name="Key features"/>
          <p:cNvSpPr txBox="1"/>
          <p:nvPr/>
        </p:nvSpPr>
        <p:spPr>
          <a:xfrm>
            <a:off x="3960000" y="9216000"/>
            <a:ext cx="302400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00" b="0" lang="en-US">
                <a:solidFill>
                  <a:srgbClr val="1B2733"/>
                </a:solidFill>
                <a:latin typeface="Segoe UI"/>
              </a:rPr>
              <a:t>Replaces a blackboard, projector and computer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00" b="0" lang="en-US">
                <a:solidFill>
                  <a:srgbClr val="1B2733"/>
                </a:solidFill>
                <a:latin typeface="Segoe UI"/>
              </a:rPr>
              <a:t>Save board notes as PPT, Word, PDF or image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09678F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9</a:t>
            </a:fld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lang="en-US">
                <a:solidFill>
                  <a:srgbClr val="0B1B2B"/>
                </a:solidFill>
                <a:latin typeface="Segoe UI Semibold"/>
              </a:rPr>
              <a:t>Touch Screens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566270"/>
                </a:solidFill>
                <a:latin typeface="Segoe UI"/>
              </a:rPr>
              <a:t>Infrared touch frames and capacitive touch panels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76000" y="1728000"/>
            <a:ext cx="3096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Infrared touch screen</a:t>
            </a:r>
          </a:p>
        </p:txBody>
      </p:sp>
      <p:sp>
        <p:nvSpPr>
          <p:cNvPr id="9" name="Image panel"/>
          <p:cNvSpPr/>
          <p:nvPr/>
        </p:nvSpPr>
        <p:spPr>
          <a:xfrm>
            <a:off x="576000" y="1944000"/>
            <a:ext cx="3096000" cy="2808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nfrared frame touch screen mounted in front of a display" descr="Infrared frame touch screen mounted in front of a disp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80" y="2088000"/>
            <a:ext cx="2483040" cy="2520000"/>
          </a:xfrm>
          <a:prstGeom prst="rect">
            <a:avLst/>
          </a:prstGeom>
        </p:spPr>
      </p:pic>
      <p:graphicFrame>
        <p:nvGraphicFramePr>
          <p:cNvPr id="11" name="Infrared touch screen specifications"/>
          <p:cNvGraphicFramePr>
            <a:graphicFrameLocks noGrp="1"/>
          </p:cNvGraphicFramePr>
          <p:nvPr/>
        </p:nvGraphicFramePr>
        <p:xfrm>
          <a:off x="576000" y="5040000"/>
          <a:ext cx="3096000" cy="3483333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224000"/>
                <a:gridCol w="1872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Size range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15" – 65"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Touch points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10 simultaneous (55" model)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441111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Operating systems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Windows, Linux, Mac OS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Response time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8 ms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441111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Light transmission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More than 90%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Durability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More than 50 million touches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Interface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USB, RS232, RS485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Power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DC 5 V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441111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Operating temperature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−20 °C to +70 °C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Label"/>
          <p:cNvSpPr txBox="1"/>
          <p:nvPr/>
        </p:nvSpPr>
        <p:spPr>
          <a:xfrm>
            <a:off x="3888000" y="1728000"/>
            <a:ext cx="3096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Capacitive touch screen</a:t>
            </a:r>
          </a:p>
        </p:txBody>
      </p:sp>
      <p:sp>
        <p:nvSpPr>
          <p:cNvPr id="13" name="Image panel"/>
          <p:cNvSpPr/>
          <p:nvPr/>
        </p:nvSpPr>
        <p:spPr>
          <a:xfrm>
            <a:off x="3888000" y="1944000"/>
            <a:ext cx="3096000" cy="2808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Capacitive touch screen panel with flexible connector" descr="Capacitive touch screen panel with flexible conn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00" y="2303248"/>
            <a:ext cx="2736000" cy="2089504"/>
          </a:xfrm>
          <a:prstGeom prst="rect">
            <a:avLst/>
          </a:prstGeom>
        </p:spPr>
      </p:pic>
      <p:graphicFrame>
        <p:nvGraphicFramePr>
          <p:cNvPr id="15" name="Capacitive touch screen specifications"/>
          <p:cNvGraphicFramePr>
            <a:graphicFrameLocks noGrp="1"/>
          </p:cNvGraphicFramePr>
          <p:nvPr/>
        </p:nvGraphicFramePr>
        <p:xfrm>
          <a:off x="3888000" y="5040000"/>
          <a:ext cx="3096000" cy="224111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224000"/>
                <a:gridCol w="1872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Size range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15" – 65"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Resolution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1920 × 1080 (16:9)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Touch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Multi-touch, up to 10 points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441111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Operating systems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Windows 10 / 8 / 7, Android, Linux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Customization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Size and driver IC, OEM/ODM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Certification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CE, FCC, RoHS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09678F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10</a:t>
            </a:fld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lang="en-US">
                <a:solidFill>
                  <a:srgbClr val="0B1B2B"/>
                </a:solidFill>
                <a:latin typeface="Segoe UI Semibold"/>
              </a:rPr>
              <a:t>OPS PC Module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566270"/>
                </a:solidFill>
                <a:latin typeface="Segoe UI"/>
              </a:rPr>
              <a:t>Plug-in computer for OPS-slot interactive displays</a:t>
            </a:r>
          </a:p>
        </p:txBody>
      </p:sp>
      <p:sp>
        <p:nvSpPr>
          <p:cNvPr id="8" name="Lead"/>
          <p:cNvSpPr txBox="1"/>
          <p:nvPr/>
        </p:nvSpPr>
        <p:spPr>
          <a:xfrm>
            <a:off x="576000" y="1728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1B2733"/>
                </a:solidFill>
                <a:latin typeface="Segoe UI"/>
              </a:rPr>
              <a:t>Plugs into the 80-pin OPS slot of an interactive display and adds a full Windows PC.</a:t>
            </a:r>
          </a:p>
        </p:txBody>
      </p:sp>
      <p:sp>
        <p:nvSpPr>
          <p:cNvPr id="9" name="Image panel"/>
          <p:cNvSpPr/>
          <p:nvPr/>
        </p:nvSpPr>
        <p:spPr>
          <a:xfrm>
            <a:off x="576000" y="2160000"/>
            <a:ext cx="3096000" cy="20880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OPS PC module with two Wi-Fi antennas" descr="OPS PC module with two Wi-Fi antenn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" y="2314526"/>
            <a:ext cx="2736000" cy="1778948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576000" y="4320000"/>
            <a:ext cx="3096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Single-slot module</a:t>
            </a:r>
          </a:p>
        </p:txBody>
      </p:sp>
      <p:sp>
        <p:nvSpPr>
          <p:cNvPr id="12" name="Image panel"/>
          <p:cNvSpPr/>
          <p:nvPr/>
        </p:nvSpPr>
        <p:spPr>
          <a:xfrm>
            <a:off x="3888000" y="2160000"/>
            <a:ext cx="3096000" cy="20880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OPS PC module with the cover removed" descr="OPS PC module with the cover remov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00" y="2281946"/>
            <a:ext cx="2736000" cy="1844107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3888000" y="4320000"/>
            <a:ext cx="3096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Inside the module</a:t>
            </a:r>
          </a:p>
        </p:txBody>
      </p:sp>
      <p:sp>
        <p:nvSpPr>
          <p:cNvPr id="15" name="Card"/>
          <p:cNvSpPr/>
          <p:nvPr/>
        </p:nvSpPr>
        <p:spPr>
          <a:xfrm>
            <a:off x="576000" y="4680000"/>
            <a:ext cx="2016000" cy="972000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value"/>
          <p:cNvSpPr txBox="1"/>
          <p:nvPr/>
        </p:nvSpPr>
        <p:spPr>
          <a:xfrm>
            <a:off x="792000" y="4878000"/>
            <a:ext cx="158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lang="en-US">
                <a:solidFill>
                  <a:srgbClr val="0B1B2B"/>
                </a:solidFill>
                <a:latin typeface="Segoe UI Semibold"/>
              </a:rPr>
              <a:t>Core i5 / i7 / i9</a:t>
            </a:r>
          </a:p>
        </p:txBody>
      </p:sp>
      <p:sp>
        <p:nvSpPr>
          <p:cNvPr id="17" name="Card note"/>
          <p:cNvSpPr txBox="1"/>
          <p:nvPr/>
        </p:nvSpPr>
        <p:spPr>
          <a:xfrm>
            <a:off x="792000" y="5238000"/>
            <a:ext cx="158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lang="en-US">
                <a:solidFill>
                  <a:srgbClr val="566270"/>
                </a:solidFill>
                <a:latin typeface="Segoe UI"/>
              </a:rPr>
              <a:t>Intel, 8th to 14th generation</a:t>
            </a:r>
          </a:p>
        </p:txBody>
      </p:sp>
      <p:sp>
        <p:nvSpPr>
          <p:cNvPr id="18" name="Card"/>
          <p:cNvSpPr/>
          <p:nvPr/>
        </p:nvSpPr>
        <p:spPr>
          <a:xfrm>
            <a:off x="2772000" y="4680000"/>
            <a:ext cx="2016000" cy="972000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value"/>
          <p:cNvSpPr txBox="1"/>
          <p:nvPr/>
        </p:nvSpPr>
        <p:spPr>
          <a:xfrm>
            <a:off x="2988000" y="4878000"/>
            <a:ext cx="158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lang="en-US">
                <a:solidFill>
                  <a:srgbClr val="0B1B2B"/>
                </a:solidFill>
                <a:latin typeface="Segoe UI Semibold"/>
              </a:rPr>
              <a:t>8 / 16 / 32 GB</a:t>
            </a:r>
          </a:p>
        </p:txBody>
      </p:sp>
      <p:sp>
        <p:nvSpPr>
          <p:cNvPr id="20" name="Card note"/>
          <p:cNvSpPr txBox="1"/>
          <p:nvPr/>
        </p:nvSpPr>
        <p:spPr>
          <a:xfrm>
            <a:off x="2988000" y="5238000"/>
            <a:ext cx="158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lang="en-US">
                <a:solidFill>
                  <a:srgbClr val="566270"/>
                </a:solidFill>
                <a:latin typeface="Segoe UI"/>
              </a:rPr>
              <a:t>Memory, DDR4 or DDR5</a:t>
            </a:r>
          </a:p>
        </p:txBody>
      </p:sp>
      <p:sp>
        <p:nvSpPr>
          <p:cNvPr id="21" name="Card"/>
          <p:cNvSpPr/>
          <p:nvPr/>
        </p:nvSpPr>
        <p:spPr>
          <a:xfrm>
            <a:off x="4968000" y="4680000"/>
            <a:ext cx="2016000" cy="972000"/>
          </a:xfrm>
          <a:prstGeom prst="roundRect">
            <a:avLst>
              <a:gd name="adj" fmla="val 11111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value"/>
          <p:cNvSpPr txBox="1"/>
          <p:nvPr/>
        </p:nvSpPr>
        <p:spPr>
          <a:xfrm>
            <a:off x="5184000" y="4878000"/>
            <a:ext cx="158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lang="en-US">
                <a:solidFill>
                  <a:srgbClr val="0B1B2B"/>
                </a:solidFill>
                <a:latin typeface="Segoe UI Semibold"/>
              </a:rPr>
              <a:t>128 GB – 1 TB</a:t>
            </a:r>
          </a:p>
        </p:txBody>
      </p:sp>
      <p:sp>
        <p:nvSpPr>
          <p:cNvPr id="23" name="Card note"/>
          <p:cNvSpPr txBox="1"/>
          <p:nvPr/>
        </p:nvSpPr>
        <p:spPr>
          <a:xfrm>
            <a:off x="5184000" y="5238000"/>
            <a:ext cx="158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lang="en-US">
                <a:solidFill>
                  <a:srgbClr val="566270"/>
                </a:solidFill>
                <a:latin typeface="Segoe UI"/>
              </a:rPr>
              <a:t>Storage, SSD or HDD</a:t>
            </a:r>
          </a:p>
        </p:txBody>
      </p:sp>
      <p:graphicFrame>
        <p:nvGraphicFramePr>
          <p:cNvPr id="24" name="OPS module specifications"/>
          <p:cNvGraphicFramePr>
            <a:graphicFrameLocks noGrp="1"/>
          </p:cNvGraphicFramePr>
          <p:nvPr/>
        </p:nvGraphicFramePr>
        <p:xfrm>
          <a:off x="576000" y="5976000"/>
          <a:ext cx="6408000" cy="3434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00000"/>
                <a:gridCol w="4608000"/>
              </a:tblGrid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Graphics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Intel Iris Xe (on eligible processors)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Video output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HDMI 2.0 (4K at 60 Hz) and the 80-pin connector; dual or triple display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Ports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2 × HDMI out, 5 × USB 3.0, 1 × USB 2.0, Type-C, RJ45, audio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Network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Gigabit Ethernet, Wi-Fi 5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Operating system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Windows 10, Windows 11, Linux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Power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12 V 6.3 A or 19 V 4.7 A (70–80 W)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Operating environment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0 °C to 45 °C, 10% to 95% humidity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Size and weight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190 × 190 × 42 mm, 1.2 kg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Fits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en-US">
                          <a:solidFill>
                            <a:srgbClr val="1B2733"/>
                          </a:solidFill>
                          <a:latin typeface="Segoe UI"/>
                        </a:rPr>
                        <a:t>OPS-slot smartboards and interactive flat panels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lock"/>
          <p:cNvSpPr/>
          <p:nvPr/>
        </p:nvSpPr>
        <p:spPr>
          <a:xfrm>
            <a:off x="0" y="0"/>
            <a:ext cx="7560000" cy="280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B4C2D1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11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Label"/>
          <p:cNvSpPr txBox="1"/>
          <p:nvPr/>
        </p:nvSpPr>
        <p:spPr>
          <a:xfrm>
            <a:off x="576000" y="774000"/>
            <a:ext cx="54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 cap="all" spc="100">
                <a:solidFill>
                  <a:srgbClr val="6CC8EC"/>
                </a:solidFill>
                <a:latin typeface="Segoe UI Semibold"/>
              </a:rPr>
              <a:t>Product line 02  ·  Digital Signage</a:t>
            </a:r>
          </a:p>
        </p:txBody>
      </p:sp>
      <p:sp>
        <p:nvSpPr>
          <p:cNvPr id="7" name="Page title"/>
          <p:cNvSpPr txBox="1"/>
          <p:nvPr/>
        </p:nvSpPr>
        <p:spPr>
          <a:xfrm>
            <a:off x="576000" y="1026000"/>
            <a:ext cx="6408000" cy="542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FFFFFF"/>
                </a:solidFill>
                <a:latin typeface="Segoe UI Semibold"/>
              </a:rPr>
              <a:t>4K Android Advertising Displays</a:t>
            </a:r>
          </a:p>
        </p:txBody>
      </p:sp>
      <p:sp>
        <p:nvSpPr>
          <p:cNvPr id="8" name="Descriptor"/>
          <p:cNvSpPr txBox="1"/>
          <p:nvPr/>
        </p:nvSpPr>
        <p:spPr>
          <a:xfrm>
            <a:off x="576000" y="1622730"/>
            <a:ext cx="612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B4C2D1"/>
                </a:solidFill>
                <a:latin typeface="Segoe UI"/>
              </a:rPr>
              <a:t>Wall-mounted and floor-standing  ·  with online cloud content management</a:t>
            </a:r>
          </a:p>
        </p:txBody>
      </p:sp>
      <p:sp>
        <p:nvSpPr>
          <p:cNvPr id="9" name="Product stage"/>
          <p:cNvSpPr/>
          <p:nvPr/>
        </p:nvSpPr>
        <p:spPr>
          <a:xfrm>
            <a:off x="576000" y="2232000"/>
            <a:ext cx="6408000" cy="3168000"/>
          </a:xfrm>
          <a:prstGeom prst="roundRect">
            <a:avLst>
              <a:gd name="adj" fmla="val 3409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Wall-mounted advertising display, front view" descr="Wall-mounted advertising display, front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20" y="2376000"/>
            <a:ext cx="3663760" cy="2700000"/>
          </a:xfrm>
          <a:prstGeom prst="rect">
            <a:avLst/>
          </a:prstGeom>
        </p:spPr>
      </p:pic>
      <p:pic>
        <p:nvPicPr>
          <p:cNvPr id="11" name="Landing-style advertising display, front view" descr="Floor-standing advertising display, front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00" y="2341508"/>
            <a:ext cx="1044000" cy="2732984"/>
          </a:xfrm>
          <a:prstGeom prst="rect">
            <a:avLst/>
          </a:prstGeom>
        </p:spPr>
      </p:pic>
      <p:pic>
        <p:nvPicPr>
          <p:cNvPr id="12" name="Landing-style advertising display, rear view" descr="Floor-standing advertising display, rear 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936" y="2340000"/>
            <a:ext cx="952128" cy="273600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792000" y="5148000"/>
            <a:ext cx="37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Wall-mounted · landscape or portrait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4788000" y="5148000"/>
            <a:ext cx="21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Floor-standing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576000" y="56160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Available sizes</a:t>
            </a:r>
          </a:p>
        </p:txBody>
      </p:sp>
      <p:sp>
        <p:nvSpPr>
          <p:cNvPr id="16" name="Chip 32&quot;"/>
          <p:cNvSpPr/>
          <p:nvPr/>
        </p:nvSpPr>
        <p:spPr>
          <a:xfrm>
            <a:off x="576000" y="5832000"/>
            <a:ext cx="585500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17" name="Chip 43&quot;"/>
          <p:cNvSpPr/>
          <p:nvPr/>
        </p:nvSpPr>
        <p:spPr>
          <a:xfrm>
            <a:off x="1255100" y="5832000"/>
            <a:ext cx="588967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43"</a:t>
            </a:r>
          </a:p>
        </p:txBody>
      </p:sp>
      <p:sp>
        <p:nvSpPr>
          <p:cNvPr id="18" name="Chip 49&quot;"/>
          <p:cNvSpPr/>
          <p:nvPr/>
        </p:nvSpPr>
        <p:spPr>
          <a:xfrm>
            <a:off x="1937668" y="5832000"/>
            <a:ext cx="589834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49"</a:t>
            </a:r>
          </a:p>
        </p:txBody>
      </p:sp>
      <p:sp>
        <p:nvSpPr>
          <p:cNvPr id="19" name="Chip 55&quot;"/>
          <p:cNvSpPr/>
          <p:nvPr/>
        </p:nvSpPr>
        <p:spPr>
          <a:xfrm>
            <a:off x="2621102" y="5832000"/>
            <a:ext cx="585500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55"</a:t>
            </a:r>
          </a:p>
        </p:txBody>
      </p:sp>
      <p:sp>
        <p:nvSpPr>
          <p:cNvPr id="20" name="Chip 65&quot;"/>
          <p:cNvSpPr/>
          <p:nvPr/>
        </p:nvSpPr>
        <p:spPr>
          <a:xfrm>
            <a:off x="3300202" y="5832000"/>
            <a:ext cx="586367" cy="378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65"</a:t>
            </a:r>
          </a:p>
        </p:txBody>
      </p:sp>
      <p:sp>
        <p:nvSpPr>
          <p:cNvPr id="21" name="Range note"/>
          <p:cNvSpPr txBox="1"/>
          <p:nvPr/>
        </p:nvSpPr>
        <p:spPr>
          <a:xfrm>
            <a:off x="576000" y="6354000"/>
            <a:ext cx="640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1B2733"/>
                </a:solidFill>
                <a:latin typeface="Segoe UI"/>
              </a:rPr>
              <a:t>Available in no-touch, infrared or capacitive touch.</a:t>
            </a:r>
          </a:p>
        </p:txBody>
      </p:sp>
      <p:sp>
        <p:nvSpPr>
          <p:cNvPr id="22" name="Touch note"/>
          <p:cNvSpPr txBox="1"/>
          <p:nvPr/>
        </p:nvSpPr>
        <p:spPr>
          <a:xfrm>
            <a:off x="576000" y="6552000"/>
            <a:ext cx="6408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b="0">
                <a:solidFill>
                  <a:srgbClr val="566270"/>
                </a:solidFill>
                <a:latin typeface="Segoe UI"/>
              </a:rPr>
              <a:t>Touch points: infrared 10-point, capacitive 10/20-point.</a:t>
            </a:r>
          </a:p>
        </p:txBody>
      </p:sp>
      <p:sp>
        <p:nvSpPr>
          <p:cNvPr id="23" name="Footnote"/>
          <p:cNvSpPr txBox="1"/>
          <p:nvPr/>
        </p:nvSpPr>
        <p:spPr>
          <a:xfrm>
            <a:off x="576000" y="6750000"/>
            <a:ext cx="6408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800" b="0">
                <a:solidFill>
                  <a:srgbClr val="566270"/>
                </a:solidFill>
                <a:latin typeface="Segoe UI"/>
              </a:rPr>
              <a:t>Floor-standing with infrared touch: 43"–65" only (not 32").</a:t>
            </a:r>
          </a:p>
        </p:txBody>
      </p:sp>
      <p:sp>
        <p:nvSpPr>
          <p:cNvPr id="24" name="Rule"/>
          <p:cNvSpPr/>
          <p:nvPr/>
        </p:nvSpPr>
        <p:spPr>
          <a:xfrm>
            <a:off x="576000" y="7146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pec label"/>
          <p:cNvSpPr txBox="1"/>
          <p:nvPr/>
        </p:nvSpPr>
        <p:spPr>
          <a:xfrm>
            <a:off x="576000" y="7261200"/>
            <a:ext cx="14805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Brightness</a:t>
            </a:r>
          </a:p>
        </p:txBody>
      </p:sp>
      <p:sp>
        <p:nvSpPr>
          <p:cNvPr id="26" name="Spec value"/>
          <p:cNvSpPr txBox="1"/>
          <p:nvPr/>
        </p:nvSpPr>
        <p:spPr>
          <a:xfrm>
            <a:off x="576000" y="7470000"/>
            <a:ext cx="1480500" cy="2488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lang="en-US" sz="1200" b="0">
                <a:solidFill>
                  <a:srgbClr val="1B2733"/>
                </a:solidFill>
                <a:latin typeface="Segoe UI Semibold"/>
              </a:rPr>
              <a:t>350–700 cd/m²</a:t>
            </a:r>
          </a:p>
        </p:txBody>
      </p:sp>
      <p:sp>
        <p:nvSpPr>
          <p:cNvPr id="27" name="Rule"/>
          <p:cNvSpPr/>
          <p:nvPr/>
        </p:nvSpPr>
        <p:spPr>
          <a:xfrm>
            <a:off x="2218500" y="7146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pec label"/>
          <p:cNvSpPr txBox="1"/>
          <p:nvPr/>
        </p:nvSpPr>
        <p:spPr>
          <a:xfrm>
            <a:off x="2218500" y="7261200"/>
            <a:ext cx="14805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RAM</a:t>
            </a:r>
          </a:p>
        </p:txBody>
      </p:sp>
      <p:sp>
        <p:nvSpPr>
          <p:cNvPr id="29" name="Spec value"/>
          <p:cNvSpPr txBox="1"/>
          <p:nvPr/>
        </p:nvSpPr>
        <p:spPr>
          <a:xfrm>
            <a:off x="2218500" y="7470000"/>
            <a:ext cx="1480500" cy="2488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lang="en-US" sz="1200" b="0">
                <a:solidFill>
                  <a:srgbClr val="1B2733"/>
                </a:solidFill>
                <a:latin typeface="Segoe UI Semibold"/>
              </a:rPr>
              <a:t>2 / 4 / 8 GB</a:t>
            </a:r>
          </a:p>
        </p:txBody>
      </p:sp>
      <p:sp>
        <p:nvSpPr>
          <p:cNvPr id="30" name="Rule"/>
          <p:cNvSpPr/>
          <p:nvPr/>
        </p:nvSpPr>
        <p:spPr>
          <a:xfrm>
            <a:off x="3861000" y="7146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pec label"/>
          <p:cNvSpPr txBox="1"/>
          <p:nvPr/>
        </p:nvSpPr>
        <p:spPr>
          <a:xfrm>
            <a:off x="3861000" y="7261200"/>
            <a:ext cx="14805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Storage</a:t>
            </a:r>
          </a:p>
        </p:txBody>
      </p:sp>
      <p:sp>
        <p:nvSpPr>
          <p:cNvPr id="32" name="Spec value"/>
          <p:cNvSpPr txBox="1"/>
          <p:nvPr/>
        </p:nvSpPr>
        <p:spPr>
          <a:xfrm>
            <a:off x="3861000" y="7470000"/>
            <a:ext cx="1480500" cy="2488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lang="en-US" sz="1200" b="0">
                <a:solidFill>
                  <a:srgbClr val="1B2733"/>
                </a:solidFill>
                <a:latin typeface="Segoe UI Semibold"/>
              </a:rPr>
              <a:t>32 / 64 / 128 GB</a:t>
            </a:r>
          </a:p>
        </p:txBody>
      </p:sp>
      <p:sp>
        <p:nvSpPr>
          <p:cNvPr id="33" name="Rule"/>
          <p:cNvSpPr/>
          <p:nvPr/>
        </p:nvSpPr>
        <p:spPr>
          <a:xfrm>
            <a:off x="5503500" y="7146000"/>
            <a:ext cx="14805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pec label"/>
          <p:cNvSpPr txBox="1"/>
          <p:nvPr/>
        </p:nvSpPr>
        <p:spPr>
          <a:xfrm>
            <a:off x="5503500" y="7261200"/>
            <a:ext cx="14805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Operating system</a:t>
            </a:r>
          </a:p>
        </p:txBody>
      </p:sp>
      <p:sp>
        <p:nvSpPr>
          <p:cNvPr id="35" name="Spec value"/>
          <p:cNvSpPr txBox="1"/>
          <p:nvPr/>
        </p:nvSpPr>
        <p:spPr>
          <a:xfrm>
            <a:off x="5503500" y="7470000"/>
            <a:ext cx="1480500" cy="2488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lang="en-US" sz="1200" b="0">
                <a:solidFill>
                  <a:srgbClr val="1B2733"/>
                </a:solidFill>
                <a:latin typeface="Segoe UI Semibold"/>
              </a:rPr>
              <a:t>Android 9–14</a:t>
            </a:r>
          </a:p>
        </p:txBody>
      </p:sp>
      <p:sp>
        <p:nvSpPr>
          <p:cNvPr id="36" name="Rule"/>
          <p:cNvSpPr/>
          <p:nvPr/>
        </p:nvSpPr>
        <p:spPr>
          <a:xfrm>
            <a:off x="576000" y="7938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"/>
          <p:cNvSpPr txBox="1"/>
          <p:nvPr/>
        </p:nvSpPr>
        <p:spPr>
          <a:xfrm>
            <a:off x="576000" y="8053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Key features</a:t>
            </a:r>
          </a:p>
        </p:txBody>
      </p:sp>
      <p:sp>
        <p:nvSpPr>
          <p:cNvPr id="38" name="Key features"/>
          <p:cNvSpPr txBox="1"/>
          <p:nvPr/>
        </p:nvSpPr>
        <p:spPr>
          <a:xfrm>
            <a:off x="576000" y="8298000"/>
            <a:ext cx="3024000" cy="14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00" b="0">
                <a:solidFill>
                  <a:srgbClr val="1B2733"/>
                </a:solidFill>
                <a:latin typeface="Segoe UI"/>
              </a:rPr>
              <a:t>Built-in CMS for remote publishing: split-screen playback, scheduled power on/off, ad insertion, remote power on/off</a:t>
            </a:r>
          </a:p>
          <a:p>
            <a:pPr marL="151200" indent="-151200" algn="l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00" b="0">
                <a:solidFill>
                  <a:srgbClr val="1B2733"/>
                </a:solidFill>
                <a:latin typeface="Segoe UI"/>
              </a:rPr>
              <a:t>Optional self-service terminal modules: facial recognition, NFC card swiping, thermal printing, cameras</a:t>
            </a:r>
          </a:p>
        </p:txBody>
      </p:sp>
      <p:sp>
        <p:nvSpPr>
          <p:cNvPr id="39" name="Key features"/>
          <p:cNvSpPr txBox="1"/>
          <p:nvPr/>
        </p:nvSpPr>
        <p:spPr>
          <a:xfrm>
            <a:off x="3960000" y="8298000"/>
            <a:ext cx="3024000" cy="14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00" b="0">
                <a:solidFill>
                  <a:srgbClr val="1B2733"/>
                </a:solidFill>
                <a:latin typeface="Segoe UI"/>
              </a:rPr>
              <a:t>All-steel, vandal-resistant and anti-theft body</a:t>
            </a:r>
          </a:p>
          <a:p>
            <a:pPr marL="151200" indent="-151200" algn="l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00" b="0">
                <a:solidFill>
                  <a:srgbClr val="1B2733"/>
                </a:solidFill>
                <a:latin typeface="Segoe UI"/>
              </a:rPr>
              <a:t>Modular design for easy maintenance</a:t>
            </a:r>
          </a:p>
          <a:p>
            <a:pPr marL="151200" indent="-151200" algn="l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00" b="0">
                <a:solidFill>
                  <a:srgbClr val="1B2733"/>
                </a:solidFill>
                <a:latin typeface="Segoe UI"/>
              </a:rPr>
              <a:t>24/7 operation, plug and play</a:t>
            </a:r>
          </a:p>
          <a:p>
            <a:pPr marL="151200" indent="-151200" algn="l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00" b="0">
                <a:solidFill>
                  <a:srgbClr val="1B2733"/>
                </a:solidFill>
                <a:latin typeface="Segoe UI"/>
              </a:rPr>
              <a:t>Custom boot screen and shell logo for OEM 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09678F"/>
                </a:solidFill>
                <a:latin typeface="Segoe UI Semibold"/>
              </a:rPr>
              <a:t>Digital Signage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12</a:t>
            </a:fld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lang="en-US">
                <a:solidFill>
                  <a:srgbClr val="0B1B2B"/>
                </a:solidFill>
                <a:latin typeface="Segoe UI Semibold"/>
              </a:rPr>
              <a:t>Kiosk Styles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566270"/>
                </a:solidFill>
                <a:latin typeface="Segoe UI"/>
              </a:rPr>
              <a:t>Rotating mobile kiosk  ·  K-shaped kiosk stand</a:t>
            </a:r>
          </a:p>
        </p:txBody>
      </p:sp>
      <p:sp>
        <p:nvSpPr>
          <p:cNvPr id="8" name="Image panel"/>
          <p:cNvSpPr/>
          <p:nvPr/>
        </p:nvSpPr>
        <p:spPr>
          <a:xfrm>
            <a:off x="576000" y="1728000"/>
            <a:ext cx="3096000" cy="37440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Rotating advertising kiosk on a mobile cabinet base" descr="Rotating advertising kiosk on a mobile cabinet 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196000"/>
            <a:ext cx="2808000" cy="2808000"/>
          </a:xfrm>
          <a:prstGeom prst="rect">
            <a:avLst/>
          </a:prstGeom>
        </p:spPr>
      </p:pic>
      <p:sp>
        <p:nvSpPr>
          <p:cNvPr id="10" name="Label"/>
          <p:cNvSpPr txBox="1"/>
          <p:nvPr/>
        </p:nvSpPr>
        <p:spPr>
          <a:xfrm>
            <a:off x="3960000" y="17280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Rotating mobile kiosk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3960000" y="1980000"/>
            <a:ext cx="302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"/>
              </a:rPr>
              <a:t>The screen rotates between landscape and portrait, and the cabinet base rolls on casters, so the display moves to where the foot traffic is. Plug and play.</a:t>
            </a:r>
          </a:p>
        </p:txBody>
      </p:sp>
      <p:sp>
        <p:nvSpPr>
          <p:cNvPr id="12" name="Rule"/>
          <p:cNvSpPr/>
          <p:nvPr/>
        </p:nvSpPr>
        <p:spPr>
          <a:xfrm>
            <a:off x="3960000" y="2952000"/>
            <a:ext cx="302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pec label"/>
          <p:cNvSpPr txBox="1"/>
          <p:nvPr/>
        </p:nvSpPr>
        <p:spPr>
          <a:xfrm>
            <a:off x="3960000" y="3067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Sizes</a:t>
            </a:r>
          </a:p>
        </p:txBody>
      </p:sp>
      <p:sp>
        <p:nvSpPr>
          <p:cNvPr id="14" name="Spec value"/>
          <p:cNvSpPr txBox="1"/>
          <p:nvPr/>
        </p:nvSpPr>
        <p:spPr>
          <a:xfrm>
            <a:off x="3960000" y="3276000"/>
            <a:ext cx="3024000" cy="239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50" b="0" lang="en-US">
                <a:solidFill>
                  <a:srgbClr val="1B2733"/>
                </a:solidFill>
                <a:latin typeface="Segoe UI Semibold"/>
              </a:rPr>
              <a:t>32" to 65"</a:t>
            </a:r>
          </a:p>
        </p:txBody>
      </p:sp>
      <p:sp>
        <p:nvSpPr>
          <p:cNvPr id="15" name="Rule"/>
          <p:cNvSpPr/>
          <p:nvPr/>
        </p:nvSpPr>
        <p:spPr>
          <a:xfrm>
            <a:off x="3960000" y="3587959"/>
            <a:ext cx="302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pec label"/>
          <p:cNvSpPr txBox="1"/>
          <p:nvPr/>
        </p:nvSpPr>
        <p:spPr>
          <a:xfrm>
            <a:off x="3960000" y="3703159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Touch</a:t>
            </a:r>
          </a:p>
        </p:txBody>
      </p:sp>
      <p:sp>
        <p:nvSpPr>
          <p:cNvPr id="17" name="Spec value"/>
          <p:cNvSpPr txBox="1"/>
          <p:nvPr/>
        </p:nvSpPr>
        <p:spPr>
          <a:xfrm>
            <a:off x="3960000" y="3911959"/>
            <a:ext cx="3024000" cy="239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50" b="0" lang="en-US">
                <a:solidFill>
                  <a:srgbClr val="1B2733"/>
                </a:solidFill>
                <a:latin typeface="Segoe UI Semibold"/>
              </a:rPr>
              <a:t>No touch, infrared or capacitive</a:t>
            </a:r>
          </a:p>
        </p:txBody>
      </p:sp>
      <p:sp>
        <p:nvSpPr>
          <p:cNvPr id="18" name="Rule"/>
          <p:cNvSpPr/>
          <p:nvPr/>
        </p:nvSpPr>
        <p:spPr>
          <a:xfrm>
            <a:off x="3960000" y="4223918"/>
            <a:ext cx="302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pec label"/>
          <p:cNvSpPr txBox="1"/>
          <p:nvPr/>
        </p:nvSpPr>
        <p:spPr>
          <a:xfrm>
            <a:off x="3960000" y="4339118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Content</a:t>
            </a:r>
          </a:p>
        </p:txBody>
      </p:sp>
      <p:sp>
        <p:nvSpPr>
          <p:cNvPr id="20" name="Spec value"/>
          <p:cNvSpPr txBox="1"/>
          <p:nvPr/>
        </p:nvSpPr>
        <p:spPr>
          <a:xfrm>
            <a:off x="3960000" y="4547918"/>
            <a:ext cx="3024000" cy="239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150" b="0" lang="en-US">
                <a:solidFill>
                  <a:srgbClr val="1B2733"/>
                </a:solidFill>
                <a:latin typeface="Segoe UI Semibold"/>
              </a:rPr>
              <a:t>Cloud CMS, remote publishing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960000" y="50760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Ideal for</a:t>
            </a:r>
          </a:p>
        </p:txBody>
      </p:sp>
      <p:sp>
        <p:nvSpPr>
          <p:cNvPr id="22" name="Chip Exhibitions"/>
          <p:cNvSpPr/>
          <p:nvPr/>
        </p:nvSpPr>
        <p:spPr>
          <a:xfrm>
            <a:off x="3960000" y="5274000"/>
            <a:ext cx="858112" cy="2664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Exhibitions</a:t>
            </a:r>
          </a:p>
        </p:txBody>
      </p:sp>
      <p:sp>
        <p:nvSpPr>
          <p:cNvPr id="23" name="Chip Pop-up stores"/>
          <p:cNvSpPr/>
          <p:nvPr/>
        </p:nvSpPr>
        <p:spPr>
          <a:xfrm>
            <a:off x="4890112" y="5274000"/>
            <a:ext cx="1036635" cy="2664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Pop-up stores</a:t>
            </a:r>
          </a:p>
        </p:txBody>
      </p:sp>
      <p:sp>
        <p:nvSpPr>
          <p:cNvPr id="24" name="Chip Events"/>
          <p:cNvSpPr/>
          <p:nvPr/>
        </p:nvSpPr>
        <p:spPr>
          <a:xfrm>
            <a:off x="5998747" y="5274000"/>
            <a:ext cx="601560" cy="2664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Events</a:t>
            </a:r>
          </a:p>
        </p:txBody>
      </p:sp>
      <p:sp>
        <p:nvSpPr>
          <p:cNvPr id="25" name="Rule"/>
          <p:cNvSpPr/>
          <p:nvPr/>
        </p:nvSpPr>
        <p:spPr>
          <a:xfrm>
            <a:off x="576000" y="5832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"/>
          <p:cNvSpPr txBox="1"/>
          <p:nvPr/>
        </p:nvSpPr>
        <p:spPr>
          <a:xfrm>
            <a:off x="576000" y="5947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K-shaped kiosk stand</a:t>
            </a:r>
          </a:p>
        </p:txBody>
      </p:sp>
      <p:sp>
        <p:nvSpPr>
          <p:cNvPr id="27" name="Lead"/>
          <p:cNvSpPr txBox="1"/>
          <p:nvPr/>
        </p:nvSpPr>
        <p:spPr>
          <a:xfrm>
            <a:off x="576000" y="617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lang="en-US">
                <a:solidFill>
                  <a:srgbClr val="1B2733"/>
                </a:solidFill>
                <a:latin typeface="Segoe UI"/>
              </a:rPr>
              <a:t>An angled pedestal that turns a display into a stand-alone kiosk, in three sizes.</a:t>
            </a:r>
          </a:p>
        </p:txBody>
      </p:sp>
      <p:sp>
        <p:nvSpPr>
          <p:cNvPr id="28" name="Image panel"/>
          <p:cNvSpPr/>
          <p:nvPr/>
        </p:nvSpPr>
        <p:spPr>
          <a:xfrm>
            <a:off x="576000" y="6516000"/>
            <a:ext cx="1992000" cy="18720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mall K-shaped kiosk stand" descr="Small K-shaped kiosk st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11" y="6624000"/>
            <a:ext cx="750777" cy="1656000"/>
          </a:xfrm>
          <a:prstGeom prst="rect">
            <a:avLst/>
          </a:prstGeom>
        </p:spPr>
      </p:pic>
      <p:sp>
        <p:nvSpPr>
          <p:cNvPr id="30" name="Caption"/>
          <p:cNvSpPr txBox="1"/>
          <p:nvPr/>
        </p:nvSpPr>
        <p:spPr>
          <a:xfrm>
            <a:off x="576000" y="8460000"/>
            <a:ext cx="199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Small  ·  15.6" to 27"</a:t>
            </a:r>
          </a:p>
        </p:txBody>
      </p:sp>
      <p:sp>
        <p:nvSpPr>
          <p:cNvPr id="31" name="Image panel"/>
          <p:cNvSpPr/>
          <p:nvPr/>
        </p:nvSpPr>
        <p:spPr>
          <a:xfrm>
            <a:off x="2784000" y="6516000"/>
            <a:ext cx="1992000" cy="18720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Medium K-shaped kiosk stand" descr="Medium K-shaped kiosk st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089" y="6624000"/>
            <a:ext cx="911822" cy="1656000"/>
          </a:xfrm>
          <a:prstGeom prst="rect">
            <a:avLst/>
          </a:prstGeom>
        </p:spPr>
      </p:pic>
      <p:sp>
        <p:nvSpPr>
          <p:cNvPr id="33" name="Caption"/>
          <p:cNvSpPr txBox="1"/>
          <p:nvPr/>
        </p:nvSpPr>
        <p:spPr>
          <a:xfrm>
            <a:off x="2784000" y="8460000"/>
            <a:ext cx="199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Medium  ·  32"</a:t>
            </a:r>
          </a:p>
        </p:txBody>
      </p:sp>
      <p:sp>
        <p:nvSpPr>
          <p:cNvPr id="34" name="Image panel"/>
          <p:cNvSpPr/>
          <p:nvPr/>
        </p:nvSpPr>
        <p:spPr>
          <a:xfrm>
            <a:off x="4992000" y="6516000"/>
            <a:ext cx="1992000" cy="18720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Large K-shaped kiosk stand" descr="Large K-shaped kiosk sta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800" y="6624000"/>
            <a:ext cx="938400" cy="1656000"/>
          </a:xfrm>
          <a:prstGeom prst="rect">
            <a:avLst/>
          </a:prstGeom>
        </p:spPr>
      </p:pic>
      <p:sp>
        <p:nvSpPr>
          <p:cNvPr id="36" name="Caption"/>
          <p:cNvSpPr txBox="1"/>
          <p:nvPr/>
        </p:nvSpPr>
        <p:spPr>
          <a:xfrm>
            <a:off x="4992000" y="8460000"/>
            <a:ext cx="199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Large  ·  43" to 65"</a:t>
            </a:r>
          </a:p>
        </p:txBody>
      </p:sp>
      <p:graphicFrame>
        <p:nvGraphicFramePr>
          <p:cNvPr id="37" name="K-stand sizes"/>
          <p:cNvGraphicFramePr>
            <a:graphicFrameLocks noGrp="1"/>
          </p:cNvGraphicFramePr>
          <p:nvPr/>
        </p:nvGraphicFramePr>
        <p:xfrm>
          <a:off x="576000" y="8748000"/>
          <a:ext cx="6408000" cy="1094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584000"/>
                <a:gridCol w="2520000"/>
                <a:gridCol w="2304000"/>
              </a:tblGrid>
              <a:tr h="2736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Stand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Fits screens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Weight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Small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15.6" to 27"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11 kg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Medium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32"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13 kg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2736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Large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43" to 65"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19 kg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Colour note"/>
          <p:cNvSpPr txBox="1"/>
          <p:nvPr/>
        </p:nvSpPr>
        <p:spPr>
          <a:xfrm>
            <a:off x="576000" y="9936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lang="en-US">
                <a:solidFill>
                  <a:srgbClr val="566270"/>
                </a:solidFill>
                <a:latin typeface="Segoe UI"/>
              </a:rPr>
              <a:t>Colours: black, white or silver.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Digital Signage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13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Bar Type and OLED Displays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566270"/>
                </a:solidFill>
                <a:latin typeface="Segoe UI"/>
              </a:rPr>
              <a:t>Stretched bar LCD  ·  transparent OLED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76000" y="1728000"/>
            <a:ext cx="640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Bar type digital signage  ·  32" – 65"</a:t>
            </a:r>
          </a:p>
        </p:txBody>
      </p:sp>
      <p:sp>
        <p:nvSpPr>
          <p:cNvPr id="9" name="Product stage"/>
          <p:cNvSpPr/>
          <p:nvPr/>
        </p:nvSpPr>
        <p:spPr>
          <a:xfrm>
            <a:off x="576000" y="1944000"/>
            <a:ext cx="6408000" cy="2376000"/>
          </a:xfrm>
          <a:prstGeom prst="roundRect">
            <a:avLst>
              <a:gd name="adj" fmla="val 4545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Stretched bar LCD digital signage, two units" descr="Stretched bar LCD digital signage, two uni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24" y="2088000"/>
            <a:ext cx="4243752" cy="2088000"/>
          </a:xfrm>
          <a:prstGeom prst="rect">
            <a:avLst/>
          </a:prstGeom>
        </p:spPr>
      </p:pic>
      <p:graphicFrame>
        <p:nvGraphicFramePr>
          <p:cNvPr id="11" name="Bar type specifications"/>
          <p:cNvGraphicFramePr>
            <a:graphicFrameLocks noGrp="1"/>
          </p:cNvGraphicFramePr>
          <p:nvPr/>
        </p:nvGraphicFramePr>
        <p:xfrm>
          <a:off x="576000" y="4536000"/>
          <a:ext cx="6408000" cy="129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0B1B2B"/>
                          </a:solidFill>
                          <a:latin typeface="Segoe UI Semibold"/>
                        </a:rPr>
                        <a:t>Resolution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1B2733"/>
                          </a:solidFill>
                          <a:latin typeface="Segoe UI"/>
                        </a:rPr>
                        <a:t>3840 × 2160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0B1B2B"/>
                          </a:solidFill>
                          <a:latin typeface="Segoe UI Semibold"/>
                        </a:rPr>
                        <a:t>Brightness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1B2733"/>
                          </a:solidFill>
                          <a:latin typeface="Segoe UI"/>
                        </a:rPr>
                        <a:t>350–500 cd/m²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0B1B2B"/>
                          </a:solidFill>
                          <a:latin typeface="Segoe UI Semibold"/>
                        </a:rPr>
                        <a:t>Operating system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1B2733"/>
                          </a:solidFill>
                          <a:latin typeface="Segoe UI"/>
                        </a:rPr>
                        <a:t>Android / Windows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0B1B2B"/>
                          </a:solidFill>
                          <a:latin typeface="Segoe UI Semibold"/>
                        </a:rPr>
                        <a:t>Installation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solidFill>
                            <a:srgbClr val="1B2733"/>
                          </a:solidFill>
                          <a:latin typeface="Segoe UI"/>
                        </a:rPr>
                        <a:t>Wall-mounted or floor-standing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ule"/>
          <p:cNvSpPr/>
          <p:nvPr/>
        </p:nvSpPr>
        <p:spPr>
          <a:xfrm>
            <a:off x="576000" y="6120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abel"/>
          <p:cNvSpPr txBox="1"/>
          <p:nvPr/>
        </p:nvSpPr>
        <p:spPr>
          <a:xfrm>
            <a:off x="576000" y="6235200"/>
            <a:ext cx="640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OLED transparent display</a:t>
            </a:r>
          </a:p>
        </p:txBody>
      </p:sp>
      <p:pic>
        <p:nvPicPr>
          <p:cNvPr id="14" name="Transparent OLED display standing on a desk" descr="Transparent OLED display standing on a desk"/>
          <p:cNvPicPr>
            <a:picLocks noChangeAspect="1"/>
          </p:cNvPicPr>
          <p:nvPr/>
        </p:nvPicPr>
        <p:blipFill>
          <a:blip r:embed="rId3"/>
          <a:srcRect t="186" b="186"/>
          <a:stretch>
            <a:fillRect/>
          </a:stretch>
        </p:blipFill>
        <p:spPr>
          <a:xfrm>
            <a:off x="576000" y="6480000"/>
            <a:ext cx="3888000" cy="2376000"/>
          </a:xfrm>
          <a:prstGeom prst="roundRect">
            <a:avLst>
              <a:gd name="adj" fmla="val 4545"/>
            </a:avLst>
          </a:prstGeom>
        </p:spPr>
      </p:pic>
      <p:sp>
        <p:nvSpPr>
          <p:cNvPr id="15" name="OLED characteristics"/>
          <p:cNvSpPr txBox="1"/>
          <p:nvPr/>
        </p:nvSpPr>
        <p:spPr>
          <a:xfrm>
            <a:off x="4680000" y="6480000"/>
            <a:ext cx="2304000" cy="23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05000"/>
              </a:lnSpc>
              <a:spcAft>
                <a:spcPts val="3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50" b="0">
                <a:solidFill>
                  <a:srgbClr val="1B2733"/>
                </a:solidFill>
                <a:latin typeface="Segoe UI"/>
              </a:rPr>
              <a:t>Transparent, flexible OLED screen</a:t>
            </a:r>
          </a:p>
          <a:p>
            <a:pPr marL="151200" indent="-151200" algn="l">
              <a:lnSpc>
                <a:spcPct val="105000"/>
              </a:lnSpc>
              <a:spcAft>
                <a:spcPts val="3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50" b="0">
                <a:solidFill>
                  <a:srgbClr val="1B2733"/>
                </a:solidFill>
                <a:latin typeface="Segoe UI"/>
              </a:rPr>
              <a:t>Ultra-thin construction</a:t>
            </a:r>
          </a:p>
          <a:p>
            <a:pPr marL="151200" indent="-151200" algn="l">
              <a:lnSpc>
                <a:spcPct val="105000"/>
              </a:lnSpc>
              <a:spcAft>
                <a:spcPts val="3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50" b="0">
                <a:solidFill>
                  <a:srgbClr val="1B2733"/>
                </a:solidFill>
                <a:latin typeface="Segoe UI"/>
              </a:rPr>
              <a:t>Full-colour display</a:t>
            </a:r>
          </a:p>
          <a:p>
            <a:pPr marL="151200" indent="-151200" algn="l">
              <a:lnSpc>
                <a:spcPct val="105000"/>
              </a:lnSpc>
              <a:spcAft>
                <a:spcPts val="30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050" b="0">
                <a:solidFill>
                  <a:srgbClr val="1B2733"/>
                </a:solidFill>
                <a:latin typeface="Segoe UI"/>
              </a:rPr>
              <a:t>Customizable size, colour gamut, pixel pitch and interface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76000" y="91440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Applications</a:t>
            </a:r>
          </a:p>
        </p:txBody>
      </p:sp>
      <p:sp>
        <p:nvSpPr>
          <p:cNvPr id="17" name="Chip Augmented reality"/>
          <p:cNvSpPr/>
          <p:nvPr/>
        </p:nvSpPr>
        <p:spPr>
          <a:xfrm>
            <a:off x="576000" y="9396000"/>
            <a:ext cx="1611059" cy="3384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150" b="0">
                <a:solidFill>
                  <a:srgbClr val="1B2733"/>
                </a:solidFill>
                <a:latin typeface="Segoe UI Semibold"/>
              </a:rPr>
              <a:t>Augmented reality</a:t>
            </a:r>
          </a:p>
        </p:txBody>
      </p:sp>
      <p:sp>
        <p:nvSpPr>
          <p:cNvPr id="18" name="Chip Interactive displays"/>
          <p:cNvSpPr/>
          <p:nvPr/>
        </p:nvSpPr>
        <p:spPr>
          <a:xfrm>
            <a:off x="2287859" y="9396000"/>
            <a:ext cx="1647097" cy="3384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150" b="0">
                <a:solidFill>
                  <a:srgbClr val="1B2733"/>
                </a:solidFill>
                <a:latin typeface="Segoe UI Semibold"/>
              </a:rPr>
              <a:t>Interactive displays</a:t>
            </a:r>
          </a:p>
        </p:txBody>
      </p:sp>
      <p:sp>
        <p:nvSpPr>
          <p:cNvPr id="19" name="Chip High-tech retail fixtures"/>
          <p:cNvSpPr/>
          <p:nvPr/>
        </p:nvSpPr>
        <p:spPr>
          <a:xfrm>
            <a:off x="4035756" y="9396000"/>
            <a:ext cx="1965279" cy="3384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150" b="0">
                <a:solidFill>
                  <a:srgbClr val="1B2733"/>
                </a:solidFill>
                <a:latin typeface="Segoe UI Semibold"/>
              </a:rPr>
              <a:t>High-tech retail fixtures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lock"/>
          <p:cNvSpPr/>
          <p:nvPr/>
        </p:nvSpPr>
        <p:spPr>
          <a:xfrm>
            <a:off x="0" y="0"/>
            <a:ext cx="7560000" cy="280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B4C2D1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14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Label"/>
          <p:cNvSpPr txBox="1"/>
          <p:nvPr/>
        </p:nvSpPr>
        <p:spPr>
          <a:xfrm>
            <a:off x="576000" y="774000"/>
            <a:ext cx="54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 cap="all" spc="100">
                <a:solidFill>
                  <a:srgbClr val="6CC8EC"/>
                </a:solidFill>
                <a:latin typeface="Segoe UI Semibold"/>
              </a:rPr>
              <a:t>Product line 03  ·  Outdoor Displays</a:t>
            </a:r>
          </a:p>
        </p:txBody>
      </p:sp>
      <p:sp>
        <p:nvSpPr>
          <p:cNvPr id="7" name="Page title"/>
          <p:cNvSpPr txBox="1"/>
          <p:nvPr/>
        </p:nvSpPr>
        <p:spPr>
          <a:xfrm>
            <a:off x="576000" y="1026000"/>
            <a:ext cx="6408000" cy="1049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FFFFFF"/>
                </a:solidFill>
                <a:latin typeface="Segoe UI Semibold"/>
              </a:rPr>
              <a:t>Ultra Durable Outdoor Weatherproof Advertising Displays</a:t>
            </a:r>
          </a:p>
        </p:txBody>
      </p:sp>
      <p:sp>
        <p:nvSpPr>
          <p:cNvPr id="8" name="Product stage"/>
          <p:cNvSpPr/>
          <p:nvPr/>
        </p:nvSpPr>
        <p:spPr>
          <a:xfrm>
            <a:off x="576000" y="2232000"/>
            <a:ext cx="6408000" cy="2952000"/>
          </a:xfrm>
          <a:prstGeom prst="roundRect">
            <a:avLst>
              <a:gd name="adj" fmla="val 3658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Outdoor weatherproof advertising displays" descr="Outdoor weatherproof advertising display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05" y="2484000"/>
            <a:ext cx="3477389" cy="2448000"/>
          </a:xfrm>
          <a:prstGeom prst="rect">
            <a:avLst/>
          </a:prstGeom>
        </p:spPr>
      </p:pic>
      <p:sp>
        <p:nvSpPr>
          <p:cNvPr id="10" name="Rule"/>
          <p:cNvSpPr/>
          <p:nvPr/>
        </p:nvSpPr>
        <p:spPr>
          <a:xfrm>
            <a:off x="4680000" y="2376000"/>
            <a:ext cx="2088000" cy="10800"/>
          </a:xfrm>
          <a:prstGeom prst="rect">
            <a:avLst/>
          </a:prstGeom>
          <a:solidFill>
            <a:srgbClr val="C3C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pec label"/>
          <p:cNvSpPr txBox="1"/>
          <p:nvPr/>
        </p:nvSpPr>
        <p:spPr>
          <a:xfrm>
            <a:off x="4680000" y="2491200"/>
            <a:ext cx="208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Brightness</a:t>
            </a:r>
          </a:p>
        </p:txBody>
      </p:sp>
      <p:sp>
        <p:nvSpPr>
          <p:cNvPr id="12" name="Spec value"/>
          <p:cNvSpPr txBox="1"/>
          <p:nvPr/>
        </p:nvSpPr>
        <p:spPr>
          <a:xfrm>
            <a:off x="4680000" y="2700000"/>
            <a:ext cx="2088000" cy="2842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400" b="0" lang="en-US">
                <a:solidFill>
                  <a:srgbClr val="1B2733"/>
                </a:solidFill>
                <a:latin typeface="Segoe UI Semibold"/>
              </a:rPr>
              <a:t>2000–2500 cd/m²</a:t>
            </a:r>
          </a:p>
        </p:txBody>
      </p:sp>
      <p:sp>
        <p:nvSpPr>
          <p:cNvPr id="13" name="Rule"/>
          <p:cNvSpPr/>
          <p:nvPr/>
        </p:nvSpPr>
        <p:spPr>
          <a:xfrm>
            <a:off x="4680000" y="3060000"/>
            <a:ext cx="2088000" cy="10800"/>
          </a:xfrm>
          <a:prstGeom prst="rect">
            <a:avLst/>
          </a:prstGeom>
          <a:solidFill>
            <a:srgbClr val="C3C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pec label"/>
          <p:cNvSpPr txBox="1"/>
          <p:nvPr/>
        </p:nvSpPr>
        <p:spPr>
          <a:xfrm>
            <a:off x="4680000" y="3175200"/>
            <a:ext cx="208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Protection</a:t>
            </a:r>
          </a:p>
        </p:txBody>
      </p:sp>
      <p:sp>
        <p:nvSpPr>
          <p:cNvPr id="15" name="Spec value"/>
          <p:cNvSpPr txBox="1"/>
          <p:nvPr/>
        </p:nvSpPr>
        <p:spPr>
          <a:xfrm>
            <a:off x="4680000" y="3384000"/>
            <a:ext cx="2088000" cy="2842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400" b="0" lang="en-US">
                <a:solidFill>
                  <a:srgbClr val="1B2733"/>
                </a:solidFill>
                <a:latin typeface="Segoe UI Semibold"/>
              </a:rPr>
              <a:t>IP55 or IP65</a:t>
            </a:r>
          </a:p>
        </p:txBody>
      </p:sp>
      <p:sp>
        <p:nvSpPr>
          <p:cNvPr id="16" name="Rule"/>
          <p:cNvSpPr/>
          <p:nvPr/>
        </p:nvSpPr>
        <p:spPr>
          <a:xfrm>
            <a:off x="4680000" y="3744000"/>
            <a:ext cx="2088000" cy="10800"/>
          </a:xfrm>
          <a:prstGeom prst="rect">
            <a:avLst/>
          </a:prstGeom>
          <a:solidFill>
            <a:srgbClr val="C3C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pec label"/>
          <p:cNvSpPr txBox="1"/>
          <p:nvPr/>
        </p:nvSpPr>
        <p:spPr>
          <a:xfrm>
            <a:off x="4680000" y="3859200"/>
            <a:ext cx="208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Operating temperature</a:t>
            </a:r>
          </a:p>
        </p:txBody>
      </p:sp>
      <p:sp>
        <p:nvSpPr>
          <p:cNvPr id="18" name="Spec value"/>
          <p:cNvSpPr txBox="1"/>
          <p:nvPr/>
        </p:nvSpPr>
        <p:spPr>
          <a:xfrm>
            <a:off x="4680000" y="4068000"/>
            <a:ext cx="2088000" cy="2842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400" b="0" lang="en-US">
                <a:solidFill>
                  <a:srgbClr val="1B2733"/>
                </a:solidFill>
                <a:latin typeface="Segoe UI Semibold"/>
              </a:rPr>
              <a:t>−30 °C to +50 °C</a:t>
            </a:r>
          </a:p>
        </p:txBody>
      </p:sp>
      <p:sp>
        <p:nvSpPr>
          <p:cNvPr id="19" name="Rule"/>
          <p:cNvSpPr/>
          <p:nvPr/>
        </p:nvSpPr>
        <p:spPr>
          <a:xfrm>
            <a:off x="4680000" y="4428000"/>
            <a:ext cx="2088000" cy="10800"/>
          </a:xfrm>
          <a:prstGeom prst="rect">
            <a:avLst/>
          </a:prstGeom>
          <a:solidFill>
            <a:srgbClr val="C3C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pec label"/>
          <p:cNvSpPr txBox="1"/>
          <p:nvPr/>
        </p:nvSpPr>
        <p:spPr>
          <a:xfrm>
            <a:off x="4680000" y="4543200"/>
            <a:ext cx="208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Front glass</a:t>
            </a:r>
          </a:p>
        </p:txBody>
      </p:sp>
      <p:sp>
        <p:nvSpPr>
          <p:cNvPr id="21" name="Spec value"/>
          <p:cNvSpPr txBox="1"/>
          <p:nvPr/>
        </p:nvSpPr>
        <p:spPr>
          <a:xfrm>
            <a:off x="4680000" y="4752000"/>
            <a:ext cx="2088000" cy="2842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400" b="0" lang="en-US">
                <a:solidFill>
                  <a:srgbClr val="1B2733"/>
                </a:solidFill>
                <a:latin typeface="Segoe UI Semibold"/>
              </a:rPr>
              <a:t>6 mm tempered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576000" y="5472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Available sizes  ·  wall-mounted or floor-standing</a:t>
            </a:r>
          </a:p>
        </p:txBody>
      </p:sp>
      <p:sp>
        <p:nvSpPr>
          <p:cNvPr id="23" name="Chip 32&quot;"/>
          <p:cNvSpPr/>
          <p:nvPr/>
        </p:nvSpPr>
        <p:spPr>
          <a:xfrm>
            <a:off x="576000" y="5706000"/>
            <a:ext cx="575166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24" name="Chip 43&quot;"/>
          <p:cNvSpPr/>
          <p:nvPr/>
        </p:nvSpPr>
        <p:spPr>
          <a:xfrm>
            <a:off x="1244766" y="5706000"/>
            <a:ext cx="578499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43"</a:t>
            </a:r>
          </a:p>
        </p:txBody>
      </p:sp>
      <p:sp>
        <p:nvSpPr>
          <p:cNvPr id="25" name="Chip 49&quot;"/>
          <p:cNvSpPr/>
          <p:nvPr/>
        </p:nvSpPr>
        <p:spPr>
          <a:xfrm>
            <a:off x="1916865" y="5706000"/>
            <a:ext cx="579333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49"</a:t>
            </a:r>
          </a:p>
        </p:txBody>
      </p:sp>
      <p:sp>
        <p:nvSpPr>
          <p:cNvPr id="26" name="Chip 55&quot;"/>
          <p:cNvSpPr/>
          <p:nvPr/>
        </p:nvSpPr>
        <p:spPr>
          <a:xfrm>
            <a:off x="2589798" y="5706000"/>
            <a:ext cx="575166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55"</a:t>
            </a:r>
          </a:p>
        </p:txBody>
      </p:sp>
      <p:sp>
        <p:nvSpPr>
          <p:cNvPr id="27" name="Chip 65&quot;"/>
          <p:cNvSpPr/>
          <p:nvPr/>
        </p:nvSpPr>
        <p:spPr>
          <a:xfrm>
            <a:off x="3258563" y="5706000"/>
            <a:ext cx="575999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65"</a:t>
            </a:r>
          </a:p>
        </p:txBody>
      </p:sp>
      <p:sp>
        <p:nvSpPr>
          <p:cNvPr id="28" name="Chip 75&quot;"/>
          <p:cNvSpPr/>
          <p:nvPr/>
        </p:nvSpPr>
        <p:spPr>
          <a:xfrm>
            <a:off x="3928163" y="5706000"/>
            <a:ext cx="571832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75"</a:t>
            </a:r>
          </a:p>
        </p:txBody>
      </p:sp>
      <p:sp>
        <p:nvSpPr>
          <p:cNvPr id="29" name="Chip 86&quot;"/>
          <p:cNvSpPr/>
          <p:nvPr/>
        </p:nvSpPr>
        <p:spPr>
          <a:xfrm>
            <a:off x="4593594" y="5706000"/>
            <a:ext cx="575999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86"</a:t>
            </a:r>
          </a:p>
        </p:txBody>
      </p:sp>
      <p:sp>
        <p:nvSpPr>
          <p:cNvPr id="30" name="Chip 98&quot;"/>
          <p:cNvSpPr/>
          <p:nvPr/>
        </p:nvSpPr>
        <p:spPr>
          <a:xfrm>
            <a:off x="5263193" y="5706000"/>
            <a:ext cx="575999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lang="en-US">
                <a:solidFill>
                  <a:srgbClr val="1B2733"/>
                </a:solidFill>
                <a:latin typeface="Segoe UI Semibold"/>
              </a:rPr>
              <a:t>98"</a:t>
            </a:r>
          </a:p>
        </p:txBody>
      </p:sp>
      <p:sp>
        <p:nvSpPr>
          <p:cNvPr id="31" name="Size note"/>
          <p:cNvSpPr txBox="1"/>
          <p:nvPr/>
        </p:nvSpPr>
        <p:spPr>
          <a:xfrm>
            <a:off x="576000" y="61920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lang="en-US">
                <a:solidFill>
                  <a:srgbClr val="566270"/>
                </a:solidFill>
                <a:latin typeface="Segoe UI"/>
              </a:rPr>
              <a:t>Brightness: 2000 cd/m² on 32"–65", 2500 cd/m² on 75"–98".</a:t>
            </a:r>
          </a:p>
        </p:txBody>
      </p:sp>
      <p:sp>
        <p:nvSpPr>
          <p:cNvPr id="32" name="Rule"/>
          <p:cNvSpPr/>
          <p:nvPr/>
        </p:nvSpPr>
        <p:spPr>
          <a:xfrm>
            <a:off x="576000" y="6624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abel"/>
          <p:cNvSpPr txBox="1"/>
          <p:nvPr/>
        </p:nvSpPr>
        <p:spPr>
          <a:xfrm>
            <a:off x="576000" y="6739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Cooling options</a:t>
            </a:r>
          </a:p>
        </p:txBody>
      </p:sp>
      <p:sp>
        <p:nvSpPr>
          <p:cNvPr id="34" name="Card"/>
          <p:cNvSpPr/>
          <p:nvPr/>
        </p:nvSpPr>
        <p:spPr>
          <a:xfrm>
            <a:off x="576000" y="6984000"/>
            <a:ext cx="3096000" cy="1152000"/>
          </a:xfrm>
          <a:prstGeom prst="roundRect">
            <a:avLst>
              <a:gd name="adj" fmla="val 9375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rd value"/>
          <p:cNvSpPr txBox="1"/>
          <p:nvPr/>
        </p:nvSpPr>
        <p:spPr>
          <a:xfrm>
            <a:off x="792000" y="7182000"/>
            <a:ext cx="266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en-US">
                <a:solidFill>
                  <a:srgbClr val="0B1B2B"/>
                </a:solidFill>
                <a:latin typeface="Segoe UI Semibold"/>
              </a:rPr>
              <a:t>Air-cooled  ·  IP55</a:t>
            </a:r>
          </a:p>
        </p:txBody>
      </p:sp>
      <p:sp>
        <p:nvSpPr>
          <p:cNvPr id="36" name="Card note"/>
          <p:cNvSpPr txBox="1"/>
          <p:nvPr/>
        </p:nvSpPr>
        <p:spPr>
          <a:xfrm>
            <a:off x="792000" y="7542000"/>
            <a:ext cx="2664000" cy="50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lang="en-US">
                <a:solidFill>
                  <a:srgbClr val="566270"/>
                </a:solidFill>
                <a:latin typeface="Segoe UI"/>
              </a:rPr>
              <a:t>Intelligent temperature control with axial fans</a:t>
            </a:r>
          </a:p>
        </p:txBody>
      </p:sp>
      <p:sp>
        <p:nvSpPr>
          <p:cNvPr id="37" name="Card"/>
          <p:cNvSpPr/>
          <p:nvPr/>
        </p:nvSpPr>
        <p:spPr>
          <a:xfrm>
            <a:off x="3888000" y="6984000"/>
            <a:ext cx="3096000" cy="1152000"/>
          </a:xfrm>
          <a:prstGeom prst="roundRect">
            <a:avLst>
              <a:gd name="adj" fmla="val 9375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rd value"/>
          <p:cNvSpPr txBox="1"/>
          <p:nvPr/>
        </p:nvSpPr>
        <p:spPr>
          <a:xfrm>
            <a:off x="4104000" y="7182000"/>
            <a:ext cx="266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en-US">
                <a:solidFill>
                  <a:srgbClr val="0B1B2B"/>
                </a:solidFill>
                <a:latin typeface="Segoe UI Semibold"/>
              </a:rPr>
              <a:t>Air conditioner  ·  IP65</a:t>
            </a:r>
          </a:p>
        </p:txBody>
      </p:sp>
      <p:sp>
        <p:nvSpPr>
          <p:cNvPr id="39" name="Card note"/>
          <p:cNvSpPr txBox="1"/>
          <p:nvPr/>
        </p:nvSpPr>
        <p:spPr>
          <a:xfrm>
            <a:off x="4104000" y="7542000"/>
            <a:ext cx="2664000" cy="50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lang="en-US">
                <a:solidFill>
                  <a:srgbClr val="566270"/>
                </a:solidFill>
                <a:latin typeface="Segoe UI"/>
              </a:rPr>
              <a:t>Built-in air conditioner for stronger protection</a:t>
            </a:r>
          </a:p>
        </p:txBody>
      </p:sp>
      <p:sp>
        <p:nvSpPr>
          <p:cNvPr id="40" name="Rule"/>
          <p:cNvSpPr/>
          <p:nvPr/>
        </p:nvSpPr>
        <p:spPr>
          <a:xfrm>
            <a:off x="576000" y="8496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abel"/>
          <p:cNvSpPr txBox="1"/>
          <p:nvPr/>
        </p:nvSpPr>
        <p:spPr>
          <a:xfrm>
            <a:off x="576000" y="8611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Key features</a:t>
            </a:r>
          </a:p>
        </p:txBody>
      </p:sp>
      <p:sp>
        <p:nvSpPr>
          <p:cNvPr id="42" name="Key features"/>
          <p:cNvSpPr txBox="1"/>
          <p:nvPr/>
        </p:nvSpPr>
        <p:spPr>
          <a:xfrm>
            <a:off x="576000" y="8856000"/>
            <a:ext cx="3024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Clear in direct sunlight, no reflection issues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Works in rain, dust and strong wind</a:t>
            </a:r>
          </a:p>
        </p:txBody>
      </p:sp>
      <p:sp>
        <p:nvSpPr>
          <p:cNvPr id="43" name="Key features"/>
          <p:cNvSpPr txBox="1"/>
          <p:nvPr/>
        </p:nvSpPr>
        <p:spPr>
          <a:xfrm>
            <a:off x="3960000" y="8856000"/>
            <a:ext cx="3024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Built for 24/7 continuous operation</a:t>
            </a:r>
          </a:p>
          <a:p>
            <a:pPr algn="l" marL="151200" indent="-151200">
              <a:lnSpc>
                <a:spcPct val="105000"/>
              </a:lnSpc>
              <a:spcAft>
                <a:spcPts val="240"/>
              </a:spcAft>
              <a:buClr>
                <a:srgbClr val="0E9BD6"/>
              </a:buClr>
              <a:buFont typeface="Arial"/>
              <a:buChar char="•"/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Accessible interior for quick repairs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09678F"/>
                </a:solidFill>
                <a:latin typeface="Segoe UI Semibold"/>
              </a:rPr>
              <a:t>Outdoor Weatherproof Displays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15</a:t>
            </a:fld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lang="en-US">
                <a:solidFill>
                  <a:srgbClr val="0B1B2B"/>
                </a:solidFill>
                <a:latin typeface="Segoe UI Semibold"/>
              </a:rPr>
              <a:t>Construction &amp; Dimensions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566270"/>
                </a:solidFill>
                <a:latin typeface="Segoe UI"/>
              </a:rPr>
              <a:t>Ultra durable outdoor weatherproof advertising displays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76000" y="1728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Dimensional drawing  ·  55" floor-standing model, mm</a:t>
            </a:r>
          </a:p>
        </p:txBody>
      </p:sp>
      <p:sp>
        <p:nvSpPr>
          <p:cNvPr id="9" name="Drawing frame"/>
          <p:cNvSpPr/>
          <p:nvPr/>
        </p:nvSpPr>
        <p:spPr>
          <a:xfrm>
            <a:off x="576000" y="1944000"/>
            <a:ext cx="6408000" cy="446400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imensional drawing of the 55 inch floor-standing outdoor di" descr="Dimensional drawing of the 55 inch floor-standing outdoor disp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54" y="2052000"/>
            <a:ext cx="6178291" cy="4248000"/>
          </a:xfrm>
          <a:prstGeom prst="rect">
            <a:avLst/>
          </a:prstGeom>
        </p:spPr>
      </p:pic>
      <p:sp>
        <p:nvSpPr>
          <p:cNvPr id="11" name="Drawing caption"/>
          <p:cNvSpPr txBox="1"/>
          <p:nvPr/>
        </p:nvSpPr>
        <p:spPr>
          <a:xfrm>
            <a:off x="576000" y="6480000"/>
            <a:ext cx="6408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lang="en-US">
                <a:solidFill>
                  <a:srgbClr val="566270"/>
                </a:solidFill>
                <a:latin typeface="Segoe UI"/>
              </a:rPr>
              <a:t>Overall 790 × 2000 × 140 mm (W × H × D); screen area 1209.6 × 680.4 mm.</a:t>
            </a:r>
          </a:p>
        </p:txBody>
      </p:sp>
      <p:sp>
        <p:nvSpPr>
          <p:cNvPr id="12" name="Rule"/>
          <p:cNvSpPr/>
          <p:nvPr/>
        </p:nvSpPr>
        <p:spPr>
          <a:xfrm>
            <a:off x="576000" y="6840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"/>
          <p:cNvSpPr txBox="1"/>
          <p:nvPr/>
        </p:nvSpPr>
        <p:spPr>
          <a:xfrm>
            <a:off x="576000" y="6955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Build, protection and service</a:t>
            </a:r>
          </a:p>
        </p:txBody>
      </p:sp>
      <p:graphicFrame>
        <p:nvGraphicFramePr>
          <p:cNvPr id="14" name="Outdoor build specifications"/>
          <p:cNvGraphicFramePr>
            <a:graphicFrameLocks noGrp="1"/>
          </p:cNvGraphicFramePr>
          <p:nvPr/>
        </p:nvGraphicFramePr>
        <p:xfrm>
          <a:off x="576000" y="7164000"/>
          <a:ext cx="6408000" cy="25200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00000"/>
                <a:gridCol w="4608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Front glass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6 mm tempered, 3–5× stronger than ordinary glass</a:t>
                      </a:r>
                    </a:p>
                  </a:txBody>
                  <a:tcPr marL="57600" marR="57600" marT="32400" marB="32400" anchor="ctr"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Housing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Galvanized steel, zinc-rich primer, outdoor powder coating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Electrical safety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Air switch, lightning protector, leakage protection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Scheduled power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Time-control switch, several on/off periods per day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Testing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Water spray, high and low temperature, simulated solar radiation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Warranty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1 year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0B1B2B"/>
                          </a:solidFill>
                          <a:latin typeface="Segoe UI Semibold"/>
                        </a:rPr>
                        <a:t>Packaging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en-US">
                          <a:solidFill>
                            <a:srgbClr val="1B2733"/>
                          </a:solidFill>
                          <a:latin typeface="Segoe UI"/>
                        </a:rPr>
                        <a:t>Wooden frame; export wooden box optional</a:t>
                      </a:r>
                    </a:p>
                  </a:txBody>
                  <a:tcPr marL="57600" marR="57600" marT="32400" marB="32400" anchor="ctr">
                    <a:lnT w="6350" cap="flat" cmpd="sng" algn="ctr">
                      <a:solidFill>
                        <a:srgbClr val="D3DAE2"/>
                      </a:solidFill>
                      <a:prstDash val="soli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lock"/>
          <p:cNvSpPr/>
          <p:nvPr/>
        </p:nvSpPr>
        <p:spPr>
          <a:xfrm>
            <a:off x="0" y="0"/>
            <a:ext cx="7560000" cy="280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B4C2D1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16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Label"/>
          <p:cNvSpPr txBox="1"/>
          <p:nvPr/>
        </p:nvSpPr>
        <p:spPr>
          <a:xfrm>
            <a:off x="576000" y="774000"/>
            <a:ext cx="54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 cap="all" spc="100">
                <a:solidFill>
                  <a:srgbClr val="6CC8EC"/>
                </a:solidFill>
                <a:latin typeface="Segoe UI Semibold"/>
              </a:rPr>
              <a:t>Product line 04  ·  Portable Smart TV</a:t>
            </a:r>
          </a:p>
        </p:txBody>
      </p:sp>
      <p:sp>
        <p:nvSpPr>
          <p:cNvPr id="7" name="Page title"/>
          <p:cNvSpPr txBox="1"/>
          <p:nvPr/>
        </p:nvSpPr>
        <p:spPr>
          <a:xfrm>
            <a:off x="576000" y="1026000"/>
            <a:ext cx="6408000" cy="542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FFFFFF"/>
                </a:solidFill>
                <a:latin typeface="Segoe UI Semibold"/>
              </a:rPr>
              <a:t>Portable Smart Android TV</a:t>
            </a:r>
          </a:p>
        </p:txBody>
      </p:sp>
      <p:sp>
        <p:nvSpPr>
          <p:cNvPr id="8" name="Product stage"/>
          <p:cNvSpPr/>
          <p:nvPr/>
        </p:nvSpPr>
        <p:spPr>
          <a:xfrm>
            <a:off x="576000" y="2232000"/>
            <a:ext cx="2448000" cy="4896000"/>
          </a:xfrm>
          <a:prstGeom prst="roundRect">
            <a:avLst>
              <a:gd name="adj" fmla="val 4411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ortable smart Android TV on a mobile stand" descr="Portable smart Android TV on a mobile sta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592946"/>
            <a:ext cx="2160000" cy="4174109"/>
          </a:xfrm>
          <a:prstGeom prst="rect">
            <a:avLst/>
          </a:prstGeom>
        </p:spPr>
      </p:pic>
      <p:sp>
        <p:nvSpPr>
          <p:cNvPr id="10" name="Rule"/>
          <p:cNvSpPr/>
          <p:nvPr/>
        </p:nvSpPr>
        <p:spPr>
          <a:xfrm>
            <a:off x="3240000" y="3096000"/>
            <a:ext cx="374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abel"/>
          <p:cNvSpPr txBox="1"/>
          <p:nvPr/>
        </p:nvSpPr>
        <p:spPr>
          <a:xfrm>
            <a:off x="3240000" y="3211200"/>
            <a:ext cx="37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Available sizes</a:t>
            </a:r>
          </a:p>
        </p:txBody>
      </p:sp>
      <p:sp>
        <p:nvSpPr>
          <p:cNvPr id="12" name="Chip 23.8&quot;"/>
          <p:cNvSpPr/>
          <p:nvPr/>
        </p:nvSpPr>
        <p:spPr>
          <a:xfrm>
            <a:off x="3240000" y="3456000"/>
            <a:ext cx="723317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23.8"</a:t>
            </a:r>
          </a:p>
        </p:txBody>
      </p:sp>
      <p:sp>
        <p:nvSpPr>
          <p:cNvPr id="13" name="Chip 27&quot;"/>
          <p:cNvSpPr/>
          <p:nvPr/>
        </p:nvSpPr>
        <p:spPr>
          <a:xfrm>
            <a:off x="4056917" y="3456000"/>
            <a:ext cx="582033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14" name="Chip 32&quot;"/>
          <p:cNvSpPr/>
          <p:nvPr/>
        </p:nvSpPr>
        <p:spPr>
          <a:xfrm>
            <a:off x="4732551" y="3456000"/>
            <a:ext cx="585500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3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15" name="Sizes note"/>
          <p:cNvSpPr txBox="1"/>
          <p:nvPr/>
        </p:nvSpPr>
        <p:spPr>
          <a:xfrm>
            <a:off x="3240000" y="3888000"/>
            <a:ext cx="3744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>
                <a:solidFill>
                  <a:srgbClr val="566270"/>
                </a:solidFill>
                <a:latin typeface="Segoe UI"/>
              </a:rPr>
              <a:t>HK series: 27" and 32" only.</a:t>
            </a:r>
          </a:p>
        </p:txBody>
      </p:sp>
      <p:sp>
        <p:nvSpPr>
          <p:cNvPr id="16" name="Rule"/>
          <p:cNvSpPr/>
          <p:nvPr/>
        </p:nvSpPr>
        <p:spPr>
          <a:xfrm>
            <a:off x="3240000" y="4284000"/>
            <a:ext cx="374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abel"/>
          <p:cNvSpPr txBox="1"/>
          <p:nvPr/>
        </p:nvSpPr>
        <p:spPr>
          <a:xfrm>
            <a:off x="3240000" y="4399200"/>
            <a:ext cx="37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Configurations (all models)</a:t>
            </a:r>
          </a:p>
        </p:txBody>
      </p:sp>
      <p:sp>
        <p:nvSpPr>
          <p:cNvPr id="18" name="Chip 4GB + 64GB"/>
          <p:cNvSpPr/>
          <p:nvPr/>
        </p:nvSpPr>
        <p:spPr>
          <a:xfrm>
            <a:off x="3240000" y="4644000"/>
            <a:ext cx="1059635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100" b="0">
                <a:solidFill>
                  <a:srgbClr val="1B2733"/>
                </a:solidFill>
                <a:latin typeface="Segoe UI Semibold"/>
              </a:rPr>
              <a:t>4GB + 64GB</a:t>
            </a:r>
          </a:p>
        </p:txBody>
      </p:sp>
      <p:sp>
        <p:nvSpPr>
          <p:cNvPr id="19" name="Chip 6GB + 128GB"/>
          <p:cNvSpPr/>
          <p:nvPr/>
        </p:nvSpPr>
        <p:spPr>
          <a:xfrm>
            <a:off x="4378835" y="4644000"/>
            <a:ext cx="1112442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100" b="0">
                <a:solidFill>
                  <a:srgbClr val="1B2733"/>
                </a:solidFill>
                <a:latin typeface="Segoe UI Semibold"/>
              </a:rPr>
              <a:t>6GB + 128GB</a:t>
            </a:r>
          </a:p>
        </p:txBody>
      </p:sp>
      <p:sp>
        <p:nvSpPr>
          <p:cNvPr id="20" name="Chip 8GB + 128GB"/>
          <p:cNvSpPr/>
          <p:nvPr/>
        </p:nvSpPr>
        <p:spPr>
          <a:xfrm>
            <a:off x="5570477" y="4644000"/>
            <a:ext cx="1111708" cy="3600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100" b="0">
                <a:solidFill>
                  <a:srgbClr val="1B2733"/>
                </a:solidFill>
                <a:latin typeface="Segoe UI Semibold"/>
              </a:rPr>
              <a:t>8GB + 128GB</a:t>
            </a:r>
          </a:p>
        </p:txBody>
      </p:sp>
      <p:sp>
        <p:nvSpPr>
          <p:cNvPr id="21" name="Rule"/>
          <p:cNvSpPr/>
          <p:nvPr/>
        </p:nvSpPr>
        <p:spPr>
          <a:xfrm>
            <a:off x="3240000" y="5292000"/>
            <a:ext cx="3744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Label"/>
          <p:cNvSpPr txBox="1"/>
          <p:nvPr/>
        </p:nvSpPr>
        <p:spPr>
          <a:xfrm>
            <a:off x="3240000" y="5407200"/>
            <a:ext cx="374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Key features</a:t>
            </a:r>
          </a:p>
        </p:txBody>
      </p:sp>
      <p:sp>
        <p:nvSpPr>
          <p:cNvPr id="23" name="Key features"/>
          <p:cNvSpPr txBox="1"/>
          <p:nvPr/>
        </p:nvSpPr>
        <p:spPr>
          <a:xfrm>
            <a:off x="3240000" y="5652000"/>
            <a:ext cx="3744000" cy="16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05000"/>
              </a:lnSpc>
              <a:spcAft>
                <a:spcPts val="26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50" b="0">
                <a:solidFill>
                  <a:srgbClr val="1B2733"/>
                </a:solidFill>
                <a:latin typeface="Segoe UI"/>
              </a:rPr>
              <a:t>Built-in or clip-on camera, by series</a:t>
            </a:r>
          </a:p>
          <a:p>
            <a:pPr marL="151200" indent="-151200" algn="l">
              <a:lnSpc>
                <a:spcPct val="105000"/>
              </a:lnSpc>
              <a:spcAft>
                <a:spcPts val="26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50" b="0">
                <a:solidFill>
                  <a:srgbClr val="1B2733"/>
                </a:solidFill>
                <a:latin typeface="Segoe UI"/>
              </a:rPr>
              <a:t>10-point capacitive touch screen</a:t>
            </a:r>
          </a:p>
          <a:p>
            <a:pPr marL="151200" indent="-151200" algn="l">
              <a:lnSpc>
                <a:spcPct val="105000"/>
              </a:lnSpc>
              <a:spcAft>
                <a:spcPts val="26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50" b="0">
                <a:solidFill>
                  <a:srgbClr val="1B2733"/>
                </a:solidFill>
                <a:latin typeface="Segoe UI"/>
              </a:rPr>
              <a:t>MTK8788 (Android 13) or MTK8781 (Android 15)</a:t>
            </a:r>
          </a:p>
          <a:p>
            <a:pPr marL="151200" indent="-151200" algn="l">
              <a:lnSpc>
                <a:spcPct val="105000"/>
              </a:lnSpc>
              <a:spcAft>
                <a:spcPts val="260"/>
              </a:spcAft>
              <a:buClr>
                <a:srgbClr val="0E9BD6"/>
              </a:buClr>
              <a:buFont typeface="Arial"/>
              <a:buChar char="•"/>
            </a:pPr>
            <a:r>
              <a:rPr lang="en-US" sz="1150" b="0">
                <a:solidFill>
                  <a:srgbClr val="1B2733"/>
                </a:solidFill>
                <a:latin typeface="Segoe UI"/>
              </a:rPr>
              <a:t>Mobile stand with smooth movement (all except HL)</a:t>
            </a:r>
          </a:p>
        </p:txBody>
      </p:sp>
      <p:sp>
        <p:nvSpPr>
          <p:cNvPr id="24" name="Rule"/>
          <p:cNvSpPr/>
          <p:nvPr/>
        </p:nvSpPr>
        <p:spPr>
          <a:xfrm>
            <a:off x="576000" y="7488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abel"/>
          <p:cNvSpPr txBox="1"/>
          <p:nvPr/>
        </p:nvSpPr>
        <p:spPr>
          <a:xfrm>
            <a:off x="576000" y="7603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Perfect for</a:t>
            </a:r>
          </a:p>
        </p:txBody>
      </p:sp>
      <p:pic>
        <p:nvPicPr>
          <p:cNvPr id="26" name="Portable TV in a living room" descr="Portable TV in a living room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6000" y="7884000"/>
            <a:ext cx="1992000" cy="1101459"/>
          </a:xfrm>
          <a:prstGeom prst="roundRect">
            <a:avLst>
              <a:gd name="adj" fmla="val 8170"/>
            </a:avLst>
          </a:prstGeom>
        </p:spPr>
      </p:pic>
      <p:sp>
        <p:nvSpPr>
          <p:cNvPr id="27" name="Use case"/>
          <p:cNvSpPr txBox="1"/>
          <p:nvPr/>
        </p:nvSpPr>
        <p:spPr>
          <a:xfrm>
            <a:off x="576000" y="9129459"/>
            <a:ext cx="199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50" b="0">
                <a:solidFill>
                  <a:srgbClr val="0B1B2B"/>
                </a:solidFill>
                <a:latin typeface="Segoe UI Semibold"/>
              </a:rPr>
              <a:t>Home Entertainment</a:t>
            </a:r>
          </a:p>
        </p:txBody>
      </p:sp>
      <p:sp>
        <p:nvSpPr>
          <p:cNvPr id="28" name="Use case text"/>
          <p:cNvSpPr txBox="1"/>
          <p:nvPr/>
        </p:nvSpPr>
        <p:spPr>
          <a:xfrm>
            <a:off x="576000" y="9399459"/>
            <a:ext cx="1992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000" b="0">
                <a:solidFill>
                  <a:srgbClr val="566270"/>
                </a:solidFill>
                <a:latin typeface="Segoe UI"/>
              </a:rPr>
              <a:t>Enjoy movies, streaming and family entertainment anywhere.</a:t>
            </a:r>
          </a:p>
        </p:txBody>
      </p:sp>
      <p:pic>
        <p:nvPicPr>
          <p:cNvPr id="29" name="Portable TV used for online learning" descr="Portable TV used for online learning"/>
          <p:cNvPicPr>
            <a:picLocks noChangeAspect="1"/>
          </p:cNvPicPr>
          <p:nvPr/>
        </p:nvPicPr>
        <p:blipFill>
          <a:blip r:embed="rId4"/>
          <a:srcRect l="213" r="213"/>
          <a:stretch>
            <a:fillRect/>
          </a:stretch>
        </p:blipFill>
        <p:spPr>
          <a:xfrm>
            <a:off x="2784000" y="7884000"/>
            <a:ext cx="1992000" cy="1101459"/>
          </a:xfrm>
          <a:prstGeom prst="roundRect">
            <a:avLst>
              <a:gd name="adj" fmla="val 8170"/>
            </a:avLst>
          </a:prstGeom>
        </p:spPr>
      </p:pic>
      <p:sp>
        <p:nvSpPr>
          <p:cNvPr id="30" name="Use case"/>
          <p:cNvSpPr txBox="1"/>
          <p:nvPr/>
        </p:nvSpPr>
        <p:spPr>
          <a:xfrm>
            <a:off x="2784000" y="9129459"/>
            <a:ext cx="199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50" b="0">
                <a:solidFill>
                  <a:srgbClr val="0B1B2B"/>
                </a:solidFill>
                <a:latin typeface="Segoe UI Semibold"/>
              </a:rPr>
              <a:t>Online Learning</a:t>
            </a:r>
          </a:p>
        </p:txBody>
      </p:sp>
      <p:sp>
        <p:nvSpPr>
          <p:cNvPr id="31" name="Use case text"/>
          <p:cNvSpPr txBox="1"/>
          <p:nvPr/>
        </p:nvSpPr>
        <p:spPr>
          <a:xfrm>
            <a:off x="2784000" y="9399459"/>
            <a:ext cx="1992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000" b="0">
                <a:solidFill>
                  <a:srgbClr val="566270"/>
                </a:solidFill>
                <a:latin typeface="Segoe UI"/>
              </a:rPr>
              <a:t>Interactive learning, online classes and remote education.</a:t>
            </a:r>
          </a:p>
        </p:txBody>
      </p:sp>
      <p:pic>
        <p:nvPicPr>
          <p:cNvPr id="32" name="Portable TV in a meeting room" descr="Portable TV in a meeting room"/>
          <p:cNvPicPr>
            <a:picLocks noChangeAspect="1"/>
          </p:cNvPicPr>
          <p:nvPr/>
        </p:nvPicPr>
        <p:blipFill>
          <a:blip r:embed="rId5"/>
          <a:srcRect t="422" b="422"/>
          <a:stretch>
            <a:fillRect/>
          </a:stretch>
        </p:blipFill>
        <p:spPr>
          <a:xfrm>
            <a:off x="4992000" y="7884000"/>
            <a:ext cx="1992000" cy="1101459"/>
          </a:xfrm>
          <a:prstGeom prst="roundRect">
            <a:avLst>
              <a:gd name="adj" fmla="val 8170"/>
            </a:avLst>
          </a:prstGeom>
        </p:spPr>
      </p:pic>
      <p:sp>
        <p:nvSpPr>
          <p:cNvPr id="33" name="Use case"/>
          <p:cNvSpPr txBox="1"/>
          <p:nvPr/>
        </p:nvSpPr>
        <p:spPr>
          <a:xfrm>
            <a:off x="4992000" y="9129459"/>
            <a:ext cx="1992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50" b="0">
                <a:solidFill>
                  <a:srgbClr val="0B1B2B"/>
                </a:solidFill>
                <a:latin typeface="Segoe UI Semibold"/>
              </a:rPr>
              <a:t>Business Meetings</a:t>
            </a:r>
          </a:p>
        </p:txBody>
      </p:sp>
      <p:sp>
        <p:nvSpPr>
          <p:cNvPr id="34" name="Use case text"/>
          <p:cNvSpPr txBox="1"/>
          <p:nvPr/>
        </p:nvSpPr>
        <p:spPr>
          <a:xfrm>
            <a:off x="4992000" y="9399459"/>
            <a:ext cx="1992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000" b="0">
                <a:solidFill>
                  <a:srgbClr val="566270"/>
                </a:solidFill>
                <a:latin typeface="Segoe UI"/>
              </a:rPr>
              <a:t>Perfect for presentations, collaboration and video meetings.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 dirty="0">
                <a:solidFill>
                  <a:srgbClr val="566270"/>
                </a:solidFill>
                <a:latin typeface="Segoe UI Semibold"/>
              </a:rPr>
              <a:t>Shenzhen </a:t>
            </a:r>
            <a:r>
              <a:rPr lang="en-US" sz="750" b="0" cap="all" spc="90" dirty="0" err="1">
                <a:solidFill>
                  <a:srgbClr val="566270"/>
                </a:solidFill>
                <a:latin typeface="Segoe UI Semibold"/>
              </a:rPr>
              <a:t>Xingyicheng</a:t>
            </a:r>
            <a:r>
              <a:rPr lang="en-US" sz="750" b="0" cap="all" spc="90" dirty="0">
                <a:solidFill>
                  <a:srgbClr val="566270"/>
                </a:solidFill>
                <a:latin typeface="Segoe UI Semibold"/>
              </a:rPr>
              <a:t>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Portable Smart Android TV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17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Six Series, 17 Models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566270"/>
                </a:solidFill>
                <a:latin typeface="Segoe UI"/>
              </a:rPr>
              <a:t>One Android TV family, six finishes and stands</a:t>
            </a:r>
          </a:p>
        </p:txBody>
      </p:sp>
      <p:sp>
        <p:nvSpPr>
          <p:cNvPr id="8" name="Series stage"/>
          <p:cNvSpPr/>
          <p:nvPr/>
        </p:nvSpPr>
        <p:spPr>
          <a:xfrm>
            <a:off x="576000" y="180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HY Series product render" descr="HY Series product ren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79" y="1890000"/>
            <a:ext cx="1303642" cy="1044000"/>
          </a:xfrm>
          <a:prstGeom prst="rect">
            <a:avLst/>
          </a:prstGeom>
        </p:spPr>
      </p:pic>
      <p:sp>
        <p:nvSpPr>
          <p:cNvPr id="10" name="Series name"/>
          <p:cNvSpPr txBox="1"/>
          <p:nvPr/>
        </p:nvSpPr>
        <p:spPr>
          <a:xfrm>
            <a:off x="612000" y="3114000"/>
            <a:ext cx="3024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B1B2B"/>
                </a:solidFill>
                <a:latin typeface="Segoe UI Semibold"/>
              </a:rPr>
              <a:t>HY Series</a:t>
            </a:r>
          </a:p>
        </p:txBody>
      </p:sp>
      <p:sp>
        <p:nvSpPr>
          <p:cNvPr id="11" name="Series finish"/>
          <p:cNvSpPr txBox="1"/>
          <p:nvPr/>
        </p:nvSpPr>
        <p:spPr>
          <a:xfrm>
            <a:off x="612000" y="3348000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dirty="0">
                <a:solidFill>
                  <a:srgbClr val="566270"/>
                </a:solidFill>
                <a:latin typeface="Segoe UI"/>
              </a:rPr>
              <a:t>Plastic</a:t>
            </a:r>
            <a:r>
              <a:rPr lang="en-US" sz="850" b="0" dirty="0">
                <a:solidFill>
                  <a:srgbClr val="566270"/>
                </a:solidFill>
                <a:latin typeface="Segoe UI"/>
              </a:rPr>
              <a:t>-texture finish</a:t>
            </a:r>
          </a:p>
        </p:txBody>
      </p:sp>
      <p:sp>
        <p:nvSpPr>
          <p:cNvPr id="12" name="Chip 23.8&quot;"/>
          <p:cNvSpPr/>
          <p:nvPr/>
        </p:nvSpPr>
        <p:spPr>
          <a:xfrm>
            <a:off x="612000" y="3546000"/>
            <a:ext cx="483035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23.8"</a:t>
            </a:r>
          </a:p>
        </p:txBody>
      </p:sp>
      <p:sp>
        <p:nvSpPr>
          <p:cNvPr id="13" name="Chip 27&quot;"/>
          <p:cNvSpPr/>
          <p:nvPr/>
        </p:nvSpPr>
        <p:spPr>
          <a:xfrm>
            <a:off x="1159835" y="3546000"/>
            <a:ext cx="3852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14" name="Chip 32&quot;"/>
          <p:cNvSpPr/>
          <p:nvPr/>
        </p:nvSpPr>
        <p:spPr>
          <a:xfrm>
            <a:off x="1609858" y="3546000"/>
            <a:ext cx="3876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15" name="Series stage"/>
          <p:cNvSpPr/>
          <p:nvPr/>
        </p:nvSpPr>
        <p:spPr>
          <a:xfrm>
            <a:off x="3888000" y="180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eries name"/>
          <p:cNvSpPr txBox="1"/>
          <p:nvPr/>
        </p:nvSpPr>
        <p:spPr>
          <a:xfrm>
            <a:off x="3924000" y="3114000"/>
            <a:ext cx="3024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B1B2B"/>
                </a:solidFill>
                <a:latin typeface="Segoe UI Semibold"/>
              </a:rPr>
              <a:t>HK Series</a:t>
            </a:r>
          </a:p>
        </p:txBody>
      </p:sp>
      <p:sp>
        <p:nvSpPr>
          <p:cNvPr id="18" name="Series finish"/>
          <p:cNvSpPr txBox="1"/>
          <p:nvPr/>
        </p:nvSpPr>
        <p:spPr>
          <a:xfrm>
            <a:off x="3924000" y="3348000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 dirty="0">
                <a:solidFill>
                  <a:srgbClr val="566270"/>
                </a:solidFill>
                <a:latin typeface="Segoe UI"/>
              </a:rPr>
              <a:t>Half-fabric cover</a:t>
            </a:r>
          </a:p>
        </p:txBody>
      </p:sp>
      <p:sp>
        <p:nvSpPr>
          <p:cNvPr id="19" name="Chip 27&quot;"/>
          <p:cNvSpPr/>
          <p:nvPr/>
        </p:nvSpPr>
        <p:spPr>
          <a:xfrm>
            <a:off x="3924000" y="3546000"/>
            <a:ext cx="3852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20" name="Chip 32&quot;"/>
          <p:cNvSpPr/>
          <p:nvPr/>
        </p:nvSpPr>
        <p:spPr>
          <a:xfrm>
            <a:off x="4374023" y="3546000"/>
            <a:ext cx="3876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21" name="Series stage"/>
          <p:cNvSpPr/>
          <p:nvPr/>
        </p:nvSpPr>
        <p:spPr>
          <a:xfrm>
            <a:off x="576000" y="396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HS Series product render" descr="HS Series product r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45" y="4050000"/>
            <a:ext cx="1144110" cy="1044000"/>
          </a:xfrm>
          <a:prstGeom prst="rect">
            <a:avLst/>
          </a:prstGeom>
        </p:spPr>
      </p:pic>
      <p:sp>
        <p:nvSpPr>
          <p:cNvPr id="23" name="Series name"/>
          <p:cNvSpPr txBox="1"/>
          <p:nvPr/>
        </p:nvSpPr>
        <p:spPr>
          <a:xfrm>
            <a:off x="612000" y="5274000"/>
            <a:ext cx="3024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B1B2B"/>
                </a:solidFill>
                <a:latin typeface="Segoe UI Semibold"/>
              </a:rPr>
              <a:t>HS Series</a:t>
            </a:r>
          </a:p>
        </p:txBody>
      </p:sp>
      <p:sp>
        <p:nvSpPr>
          <p:cNvPr id="24" name="Series finish"/>
          <p:cNvSpPr txBox="1"/>
          <p:nvPr/>
        </p:nvSpPr>
        <p:spPr>
          <a:xfrm>
            <a:off x="612000" y="5508000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>
                <a:solidFill>
                  <a:srgbClr val="566270"/>
                </a:solidFill>
                <a:latin typeface="Segoe UI"/>
              </a:rPr>
              <a:t>Full-fabric cover</a:t>
            </a:r>
          </a:p>
        </p:txBody>
      </p:sp>
      <p:sp>
        <p:nvSpPr>
          <p:cNvPr id="25" name="Chip 23.8&quot;"/>
          <p:cNvSpPr/>
          <p:nvPr/>
        </p:nvSpPr>
        <p:spPr>
          <a:xfrm>
            <a:off x="612000" y="5706000"/>
            <a:ext cx="483035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23.8"</a:t>
            </a:r>
          </a:p>
        </p:txBody>
      </p:sp>
      <p:sp>
        <p:nvSpPr>
          <p:cNvPr id="26" name="Chip 27&quot;"/>
          <p:cNvSpPr/>
          <p:nvPr/>
        </p:nvSpPr>
        <p:spPr>
          <a:xfrm>
            <a:off x="1159835" y="5706000"/>
            <a:ext cx="3852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27" name="Chip 32&quot;"/>
          <p:cNvSpPr/>
          <p:nvPr/>
        </p:nvSpPr>
        <p:spPr>
          <a:xfrm>
            <a:off x="1609858" y="5706000"/>
            <a:ext cx="3876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28" name="Series stage"/>
          <p:cNvSpPr/>
          <p:nvPr/>
        </p:nvSpPr>
        <p:spPr>
          <a:xfrm>
            <a:off x="3888000" y="396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Series name"/>
          <p:cNvSpPr txBox="1"/>
          <p:nvPr/>
        </p:nvSpPr>
        <p:spPr>
          <a:xfrm>
            <a:off x="3924000" y="5274000"/>
            <a:ext cx="3024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>
                <a:solidFill>
                  <a:srgbClr val="0B1B2B"/>
                </a:solidFill>
                <a:latin typeface="Segoe UI Semibold"/>
              </a:rPr>
              <a:t>HP Series</a:t>
            </a:r>
          </a:p>
        </p:txBody>
      </p:sp>
      <p:sp>
        <p:nvSpPr>
          <p:cNvPr id="31" name="Series finish"/>
          <p:cNvSpPr txBox="1"/>
          <p:nvPr/>
        </p:nvSpPr>
        <p:spPr>
          <a:xfrm>
            <a:off x="3924000" y="5508000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dirty="0"/>
          </a:p>
        </p:txBody>
      </p:sp>
      <p:sp>
        <p:nvSpPr>
          <p:cNvPr id="32" name="Chip 23.8&quot;"/>
          <p:cNvSpPr/>
          <p:nvPr/>
        </p:nvSpPr>
        <p:spPr>
          <a:xfrm>
            <a:off x="3924000" y="5706000"/>
            <a:ext cx="483035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23.8"</a:t>
            </a:r>
          </a:p>
        </p:txBody>
      </p:sp>
      <p:sp>
        <p:nvSpPr>
          <p:cNvPr id="33" name="Chip 27&quot;"/>
          <p:cNvSpPr/>
          <p:nvPr/>
        </p:nvSpPr>
        <p:spPr>
          <a:xfrm>
            <a:off x="4471835" y="5706000"/>
            <a:ext cx="3852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34" name="Chip 32&quot;"/>
          <p:cNvSpPr/>
          <p:nvPr/>
        </p:nvSpPr>
        <p:spPr>
          <a:xfrm>
            <a:off x="4921858" y="5706000"/>
            <a:ext cx="3876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35" name="Series stage"/>
          <p:cNvSpPr/>
          <p:nvPr/>
        </p:nvSpPr>
        <p:spPr>
          <a:xfrm>
            <a:off x="576000" y="612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Series name"/>
          <p:cNvSpPr txBox="1"/>
          <p:nvPr/>
        </p:nvSpPr>
        <p:spPr>
          <a:xfrm>
            <a:off x="612000" y="7434000"/>
            <a:ext cx="3024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0B1B2B"/>
                </a:solidFill>
                <a:latin typeface="Segoe UI Semibold"/>
              </a:rPr>
              <a:t>HL Series · Desktop display</a:t>
            </a:r>
          </a:p>
        </p:txBody>
      </p:sp>
      <p:sp>
        <p:nvSpPr>
          <p:cNvPr id="38" name="Series finish"/>
          <p:cNvSpPr txBox="1"/>
          <p:nvPr/>
        </p:nvSpPr>
        <p:spPr>
          <a:xfrm>
            <a:off x="612000" y="7668000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>
                <a:solidFill>
                  <a:srgbClr val="566270"/>
                </a:solidFill>
                <a:latin typeface="Segoe UI"/>
              </a:rPr>
              <a:t>Display only, no floor stand</a:t>
            </a:r>
          </a:p>
        </p:txBody>
      </p:sp>
      <p:sp>
        <p:nvSpPr>
          <p:cNvPr id="39" name="Chip 23.8&quot;"/>
          <p:cNvSpPr/>
          <p:nvPr/>
        </p:nvSpPr>
        <p:spPr>
          <a:xfrm>
            <a:off x="612000" y="7866000"/>
            <a:ext cx="483035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23.8"</a:t>
            </a:r>
          </a:p>
        </p:txBody>
      </p:sp>
      <p:sp>
        <p:nvSpPr>
          <p:cNvPr id="40" name="Chip 27&quot;"/>
          <p:cNvSpPr/>
          <p:nvPr/>
        </p:nvSpPr>
        <p:spPr>
          <a:xfrm>
            <a:off x="1159835" y="7866000"/>
            <a:ext cx="3852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41" name="Chip 32&quot;"/>
          <p:cNvSpPr/>
          <p:nvPr/>
        </p:nvSpPr>
        <p:spPr>
          <a:xfrm>
            <a:off x="1609858" y="7866000"/>
            <a:ext cx="3876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42" name="Series stage"/>
          <p:cNvSpPr/>
          <p:nvPr/>
        </p:nvSpPr>
        <p:spPr>
          <a:xfrm>
            <a:off x="3888000" y="6120000"/>
            <a:ext cx="3096000" cy="12240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Series name"/>
          <p:cNvSpPr txBox="1"/>
          <p:nvPr/>
        </p:nvSpPr>
        <p:spPr>
          <a:xfrm>
            <a:off x="3924000" y="7434000"/>
            <a:ext cx="3024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0B1B2B"/>
                </a:solidFill>
                <a:latin typeface="Segoe UI Semibold"/>
              </a:rPr>
              <a:t>HS 2-in-1 Series · Detachable display</a:t>
            </a:r>
          </a:p>
        </p:txBody>
      </p:sp>
      <p:sp>
        <p:nvSpPr>
          <p:cNvPr id="45" name="Series finish"/>
          <p:cNvSpPr txBox="1"/>
          <p:nvPr/>
        </p:nvSpPr>
        <p:spPr>
          <a:xfrm>
            <a:off x="3924000" y="7668000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>
                <a:solidFill>
                  <a:srgbClr val="566270"/>
                </a:solidFill>
                <a:latin typeface="Segoe UI"/>
              </a:rPr>
              <a:t>Base with 5 silent casters</a:t>
            </a:r>
          </a:p>
        </p:txBody>
      </p:sp>
      <p:sp>
        <p:nvSpPr>
          <p:cNvPr id="46" name="Chip 23.8&quot;"/>
          <p:cNvSpPr/>
          <p:nvPr/>
        </p:nvSpPr>
        <p:spPr>
          <a:xfrm>
            <a:off x="3924000" y="7866000"/>
            <a:ext cx="483035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23.8"</a:t>
            </a:r>
          </a:p>
        </p:txBody>
      </p:sp>
      <p:sp>
        <p:nvSpPr>
          <p:cNvPr id="47" name="Chip 27&quot;"/>
          <p:cNvSpPr/>
          <p:nvPr/>
        </p:nvSpPr>
        <p:spPr>
          <a:xfrm>
            <a:off x="4471835" y="7866000"/>
            <a:ext cx="3852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27"</a:t>
            </a:r>
          </a:p>
        </p:txBody>
      </p:sp>
      <p:sp>
        <p:nvSpPr>
          <p:cNvPr id="48" name="Chip 32&quot;"/>
          <p:cNvSpPr/>
          <p:nvPr/>
        </p:nvSpPr>
        <p:spPr>
          <a:xfrm>
            <a:off x="4921858" y="7866000"/>
            <a:ext cx="387623" cy="237600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900" b="0">
                <a:solidFill>
                  <a:srgbClr val="1B2733"/>
                </a:solidFill>
                <a:latin typeface="Segoe UI Semibold"/>
              </a:rPr>
              <a:t>32"</a:t>
            </a:r>
          </a:p>
        </p:txBody>
      </p:sp>
      <p:sp>
        <p:nvSpPr>
          <p:cNvPr id="49" name="Rule"/>
          <p:cNvSpPr/>
          <p:nvPr/>
        </p:nvSpPr>
        <p:spPr>
          <a:xfrm>
            <a:off x="576000" y="8316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Label"/>
          <p:cNvSpPr txBox="1"/>
          <p:nvPr/>
        </p:nvSpPr>
        <p:spPr>
          <a:xfrm>
            <a:off x="576000" y="84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HY, HK, HS, HP and HS 2-in-1</a:t>
            </a:r>
          </a:p>
        </p:txBody>
      </p:sp>
      <p:sp>
        <p:nvSpPr>
          <p:cNvPr id="51" name="Label"/>
          <p:cNvSpPr txBox="1"/>
          <p:nvPr/>
        </p:nvSpPr>
        <p:spPr>
          <a:xfrm>
            <a:off x="3960000" y="84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09678F"/>
                </a:solidFill>
                <a:latin typeface="Segoe UI Semibold"/>
              </a:rPr>
              <a:t>HL Series</a:t>
            </a:r>
          </a:p>
        </p:txBody>
      </p:sp>
      <p:sp>
        <p:nvSpPr>
          <p:cNvPr id="52" name="Common features"/>
          <p:cNvSpPr txBox="1"/>
          <p:nvPr/>
        </p:nvSpPr>
        <p:spPr>
          <a:xfrm>
            <a:off x="576000" y="8658000"/>
            <a:ext cx="30240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Fully laminated screen on HY</a:t>
            </a:r>
          </a:p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Full HD display</a:t>
            </a:r>
          </a:p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Adjustable height, tilt and rotation</a:t>
            </a:r>
          </a:p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Rechargeable lithium battery: 10,000 mAh</a:t>
            </a:r>
          </a:p>
        </p:txBody>
      </p:sp>
      <p:sp>
        <p:nvSpPr>
          <p:cNvPr id="53" name="HL features"/>
          <p:cNvSpPr txBox="1"/>
          <p:nvPr/>
        </p:nvSpPr>
        <p:spPr>
          <a:xfrm>
            <a:off x="3960000" y="8658000"/>
            <a:ext cx="30240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Fully laminated screen</a:t>
            </a:r>
          </a:p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Whiteboard software, screen mirroring software and remote control included</a:t>
            </a:r>
          </a:p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Supports custom mold development</a:t>
            </a:r>
          </a:p>
          <a:p>
            <a:pPr marL="151200" indent="-151200" algn="l">
              <a:lnSpc>
                <a:spcPct val="105000"/>
              </a:lnSpc>
              <a:spcAft>
                <a:spcPts val="220"/>
              </a:spcAft>
              <a:buClr>
                <a:srgbClr val="0E9BD6"/>
              </a:buClr>
              <a:buFont typeface="Arial"/>
              <a:buChar char="•"/>
            </a:pPr>
            <a:r>
              <a:rPr lang="en-US" sz="950" b="0">
                <a:solidFill>
                  <a:srgbClr val="1B2733"/>
                </a:solidFill>
                <a:latin typeface="Segoe UI"/>
              </a:rPr>
              <a:t>Rechargeable lithium battery: 5,000 mAh (23.8"), 10,000 mAh (27", 32")</a:t>
            </a:r>
          </a:p>
        </p:txBody>
      </p:sp>
      <p:pic>
        <p:nvPicPr>
          <p:cNvPr id="54" name="图片 8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PicPr>
            <a:picLocks/>
          </p:cNvPicPr>
          <p:nvPr/>
        </p:nvPicPr>
        <p:blipFill>
          <a:blip r:embed="rId4"/>
          <a:srcRect l="1" t="6184" r="4195" b="1072"/>
          <a:stretch>
            <a:fillRect/>
          </a:stretch>
        </p:blipFill>
        <p:spPr>
          <a:xfrm>
            <a:off x="5346031" y="6151031"/>
            <a:ext cx="773435" cy="116383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" name="图片 7">
            <a:extLst>
              <a:ext uri="{FF2B5EF4-FFF2-40B4-BE49-F238E27FC236}">
                <a16:creationId xmlns:a16="http://schemas.microsoft.com/office/drawing/2014/main" id="{00000000-0008-0000-0000-000008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546" y="6428457"/>
            <a:ext cx="826953" cy="59814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5A06201-986F-51CB-C0C3-6AD590867767}"/>
              </a:ext>
            </a:extLst>
          </p:cNvPr>
          <p:cNvPicPr>
            <a:picLocks/>
          </p:cNvPicPr>
          <p:nvPr/>
        </p:nvPicPr>
        <p:blipFill>
          <a:blip r:embed="rId6"/>
          <a:srcRect l="5370" r="4280"/>
          <a:stretch>
            <a:fillRect/>
          </a:stretch>
        </p:blipFill>
        <p:spPr>
          <a:xfrm>
            <a:off x="777240" y="6284760"/>
            <a:ext cx="2680960" cy="967208"/>
          </a:xfrm>
          <a:prstGeom prst="rect">
            <a:avLst/>
          </a:prstGeom>
        </p:spPr>
      </p:pic>
      <p:pic>
        <p:nvPicPr>
          <p:cNvPr id="62" name="图片 9">
            <a:extLst>
              <a:ext uri="{FF2B5EF4-FFF2-40B4-BE49-F238E27FC236}">
                <a16:creationId xmlns:a16="http://schemas.microsoft.com/office/drawing/2014/main" id="{00000000-0008-0000-0000-00000A000000}"/>
              </a:ext>
            </a:extLst>
          </p:cNvPr>
          <p:cNvPicPr>
            <a:picLocks/>
          </p:cNvPicPr>
          <p:nvPr/>
        </p:nvPicPr>
        <p:blipFill>
          <a:blip r:embed="rId7"/>
          <a:srcRect l="8963" t="13966" r="8962" b="9394"/>
          <a:stretch>
            <a:fillRect/>
          </a:stretch>
        </p:blipFill>
        <p:spPr>
          <a:xfrm>
            <a:off x="4562754" y="3973366"/>
            <a:ext cx="1731249" cy="119495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" name="图片 3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594" y="1802301"/>
            <a:ext cx="1322422" cy="1210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" name="Series finish">
            <a:extLst>
              <a:ext uri="{FF2B5EF4-FFF2-40B4-BE49-F238E27FC236}">
                <a16:creationId xmlns:a16="http://schemas.microsoft.com/office/drawing/2014/main" id="{0E23F16C-3485-9DF5-0750-BCCF7121DF82}"/>
              </a:ext>
            </a:extLst>
          </p:cNvPr>
          <p:cNvSpPr txBox="1"/>
          <p:nvPr/>
        </p:nvSpPr>
        <p:spPr>
          <a:xfrm>
            <a:off x="3926538" y="5481092"/>
            <a:ext cx="3024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50" b="0" dirty="0">
                <a:solidFill>
                  <a:srgbClr val="566270"/>
                </a:solidFill>
                <a:latin typeface="Segoe UI"/>
              </a:rPr>
              <a:t>Leather-texture finish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09678F"/>
                </a:solidFill>
                <a:latin typeface="Segoe UI Semibold"/>
              </a:rPr>
              <a:t>Portable Smart Android TV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lang="en-US" spc="90" cap="all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18</a:t>
            </a:fld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lang="en-US">
                <a:solidFill>
                  <a:srgbClr val="0B1B2B"/>
                </a:solidFill>
                <a:latin typeface="Segoe UI Semibold"/>
              </a:rPr>
              <a:t>Platform &amp; Specifications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576000" y="131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lang="en-US">
                <a:solidFill>
                  <a:srgbClr val="566270"/>
                </a:solidFill>
                <a:latin typeface="Segoe UI"/>
              </a:rPr>
              <a:t>What differs by series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76000" y="1800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Platform</a:t>
            </a:r>
          </a:p>
        </p:txBody>
      </p:sp>
      <p:sp>
        <p:nvSpPr>
          <p:cNvPr id="9" name="Card"/>
          <p:cNvSpPr/>
          <p:nvPr/>
        </p:nvSpPr>
        <p:spPr>
          <a:xfrm>
            <a:off x="576000" y="2016000"/>
            <a:ext cx="3096000" cy="1368000"/>
          </a:xfrm>
          <a:prstGeom prst="roundRect">
            <a:avLst>
              <a:gd name="adj" fmla="val 7894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value"/>
          <p:cNvSpPr txBox="1"/>
          <p:nvPr/>
        </p:nvSpPr>
        <p:spPr>
          <a:xfrm>
            <a:off x="792000" y="2232000"/>
            <a:ext cx="2664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lang="en-US">
                <a:solidFill>
                  <a:srgbClr val="0B1B2B"/>
                </a:solidFill>
                <a:latin typeface="Segoe UI Semibold"/>
              </a:rPr>
              <a:t>MTK8788 · Android 13</a:t>
            </a:r>
          </a:p>
        </p:txBody>
      </p:sp>
      <p:sp>
        <p:nvSpPr>
          <p:cNvPr id="11" name="Card note"/>
          <p:cNvSpPr txBox="1"/>
          <p:nvPr/>
        </p:nvSpPr>
        <p:spPr>
          <a:xfrm>
            <a:off x="792000" y="2628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lang="en-US">
                <a:solidFill>
                  <a:srgbClr val="566270"/>
                </a:solidFill>
                <a:latin typeface="Segoe UI"/>
              </a:rPr>
              <a:t>Standard platform</a:t>
            </a:r>
          </a:p>
        </p:txBody>
      </p:sp>
      <p:sp>
        <p:nvSpPr>
          <p:cNvPr id="12" name="Chip HY"/>
          <p:cNvSpPr/>
          <p:nvPr/>
        </p:nvSpPr>
        <p:spPr>
          <a:xfrm>
            <a:off x="792000" y="2916000"/>
            <a:ext cx="38195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HY</a:t>
            </a:r>
          </a:p>
        </p:txBody>
      </p:sp>
      <p:sp>
        <p:nvSpPr>
          <p:cNvPr id="13" name="Chip HK"/>
          <p:cNvSpPr/>
          <p:nvPr/>
        </p:nvSpPr>
        <p:spPr>
          <a:xfrm>
            <a:off x="1238754" y="2916000"/>
            <a:ext cx="38638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HK</a:t>
            </a:r>
          </a:p>
        </p:txBody>
      </p:sp>
      <p:sp>
        <p:nvSpPr>
          <p:cNvPr id="14" name="Chip HS"/>
          <p:cNvSpPr/>
          <p:nvPr/>
        </p:nvSpPr>
        <p:spPr>
          <a:xfrm>
            <a:off x="1689942" y="2916000"/>
            <a:ext cx="37815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HS</a:t>
            </a:r>
          </a:p>
        </p:txBody>
      </p:sp>
      <p:sp>
        <p:nvSpPr>
          <p:cNvPr id="15" name="Chip HP"/>
          <p:cNvSpPr/>
          <p:nvPr/>
        </p:nvSpPr>
        <p:spPr>
          <a:xfrm>
            <a:off x="2132896" y="2916000"/>
            <a:ext cx="38322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HP</a:t>
            </a:r>
          </a:p>
        </p:txBody>
      </p:sp>
      <p:sp>
        <p:nvSpPr>
          <p:cNvPr id="16" name="Chip HS 2-in-1"/>
          <p:cNvSpPr/>
          <p:nvPr/>
        </p:nvSpPr>
        <p:spPr>
          <a:xfrm>
            <a:off x="2580917" y="2916000"/>
            <a:ext cx="7423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HS 2-in-1</a:t>
            </a:r>
          </a:p>
        </p:txBody>
      </p:sp>
      <p:sp>
        <p:nvSpPr>
          <p:cNvPr id="17" name="Card"/>
          <p:cNvSpPr/>
          <p:nvPr/>
        </p:nvSpPr>
        <p:spPr>
          <a:xfrm>
            <a:off x="3888000" y="2016000"/>
            <a:ext cx="3096000" cy="1368000"/>
          </a:xfrm>
          <a:prstGeom prst="roundRect">
            <a:avLst>
              <a:gd name="adj" fmla="val 7894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value"/>
          <p:cNvSpPr txBox="1"/>
          <p:nvPr/>
        </p:nvSpPr>
        <p:spPr>
          <a:xfrm>
            <a:off x="4104000" y="2232000"/>
            <a:ext cx="2664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lang="en-US">
                <a:solidFill>
                  <a:srgbClr val="0B1B2B"/>
                </a:solidFill>
                <a:latin typeface="Segoe UI Semibold"/>
              </a:rPr>
              <a:t>MTK8781 · Android 15</a:t>
            </a:r>
          </a:p>
        </p:txBody>
      </p:sp>
      <p:sp>
        <p:nvSpPr>
          <p:cNvPr id="19" name="Card note"/>
          <p:cNvSpPr txBox="1"/>
          <p:nvPr/>
        </p:nvSpPr>
        <p:spPr>
          <a:xfrm>
            <a:off x="4104000" y="2628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lang="en-US">
                <a:solidFill>
                  <a:srgbClr val="566270"/>
                </a:solidFill>
                <a:latin typeface="Segoe UI"/>
              </a:rPr>
              <a:t>Newer platform</a:t>
            </a:r>
          </a:p>
        </p:txBody>
      </p:sp>
      <p:sp>
        <p:nvSpPr>
          <p:cNvPr id="20" name="Chip HY"/>
          <p:cNvSpPr/>
          <p:nvPr/>
        </p:nvSpPr>
        <p:spPr>
          <a:xfrm>
            <a:off x="4104000" y="2916000"/>
            <a:ext cx="38195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HY</a:t>
            </a:r>
          </a:p>
        </p:txBody>
      </p:sp>
      <p:sp>
        <p:nvSpPr>
          <p:cNvPr id="21" name="Chip HK"/>
          <p:cNvSpPr/>
          <p:nvPr/>
        </p:nvSpPr>
        <p:spPr>
          <a:xfrm>
            <a:off x="4550754" y="2916000"/>
            <a:ext cx="38638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HK</a:t>
            </a:r>
          </a:p>
        </p:txBody>
      </p:sp>
      <p:sp>
        <p:nvSpPr>
          <p:cNvPr id="22" name="Chip HS"/>
          <p:cNvSpPr/>
          <p:nvPr/>
        </p:nvSpPr>
        <p:spPr>
          <a:xfrm>
            <a:off x="5001942" y="2916000"/>
            <a:ext cx="37815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HS</a:t>
            </a:r>
          </a:p>
        </p:txBody>
      </p:sp>
      <p:sp>
        <p:nvSpPr>
          <p:cNvPr id="23" name="Chip HP"/>
          <p:cNvSpPr/>
          <p:nvPr/>
        </p:nvSpPr>
        <p:spPr>
          <a:xfrm>
            <a:off x="5444896" y="2916000"/>
            <a:ext cx="38322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HP</a:t>
            </a:r>
          </a:p>
        </p:txBody>
      </p:sp>
      <p:sp>
        <p:nvSpPr>
          <p:cNvPr id="24" name="Chip HL"/>
          <p:cNvSpPr/>
          <p:nvPr/>
        </p:nvSpPr>
        <p:spPr>
          <a:xfrm>
            <a:off x="5892917" y="2916000"/>
            <a:ext cx="37118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HL</a:t>
            </a:r>
          </a:p>
        </p:txBody>
      </p:sp>
      <p:sp>
        <p:nvSpPr>
          <p:cNvPr id="25" name="Label"/>
          <p:cNvSpPr txBox="1"/>
          <p:nvPr/>
        </p:nvSpPr>
        <p:spPr>
          <a:xfrm>
            <a:off x="576000" y="3744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Camera</a:t>
            </a:r>
          </a:p>
        </p:txBody>
      </p:sp>
      <p:sp>
        <p:nvSpPr>
          <p:cNvPr id="26" name="Card"/>
          <p:cNvSpPr/>
          <p:nvPr/>
        </p:nvSpPr>
        <p:spPr>
          <a:xfrm>
            <a:off x="576000" y="3960000"/>
            <a:ext cx="3096000" cy="1368000"/>
          </a:xfrm>
          <a:prstGeom prst="roundRect">
            <a:avLst>
              <a:gd name="adj" fmla="val 7894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value"/>
          <p:cNvSpPr txBox="1"/>
          <p:nvPr/>
        </p:nvSpPr>
        <p:spPr>
          <a:xfrm>
            <a:off x="792000" y="4176000"/>
            <a:ext cx="2664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lang="en-US">
                <a:solidFill>
                  <a:srgbClr val="0B1B2B"/>
                </a:solidFill>
                <a:latin typeface="Segoe UI Semibold"/>
              </a:rPr>
              <a:t>5 MP clip-on</a:t>
            </a:r>
          </a:p>
        </p:txBody>
      </p:sp>
      <p:sp>
        <p:nvSpPr>
          <p:cNvPr id="28" name="Card note"/>
          <p:cNvSpPr txBox="1"/>
          <p:nvPr/>
        </p:nvSpPr>
        <p:spPr>
          <a:xfrm>
            <a:off x="792000" y="4572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lang="en-US">
                <a:solidFill>
                  <a:srgbClr val="566270"/>
                </a:solidFill>
                <a:latin typeface="Segoe UI"/>
              </a:rPr>
              <a:t>Magnetic mount, with microphone</a:t>
            </a:r>
          </a:p>
        </p:txBody>
      </p:sp>
      <p:sp>
        <p:nvSpPr>
          <p:cNvPr id="29" name="Chip HY"/>
          <p:cNvSpPr/>
          <p:nvPr/>
        </p:nvSpPr>
        <p:spPr>
          <a:xfrm>
            <a:off x="792000" y="4860000"/>
            <a:ext cx="38195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HY</a:t>
            </a:r>
          </a:p>
        </p:txBody>
      </p:sp>
      <p:sp>
        <p:nvSpPr>
          <p:cNvPr id="30" name="Chip HK"/>
          <p:cNvSpPr/>
          <p:nvPr/>
        </p:nvSpPr>
        <p:spPr>
          <a:xfrm>
            <a:off x="1238754" y="4860000"/>
            <a:ext cx="38638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HK</a:t>
            </a:r>
          </a:p>
        </p:txBody>
      </p:sp>
      <p:sp>
        <p:nvSpPr>
          <p:cNvPr id="31" name="Card"/>
          <p:cNvSpPr/>
          <p:nvPr/>
        </p:nvSpPr>
        <p:spPr>
          <a:xfrm>
            <a:off x="3888000" y="3960000"/>
            <a:ext cx="3096000" cy="1368000"/>
          </a:xfrm>
          <a:prstGeom prst="roundRect">
            <a:avLst>
              <a:gd name="adj" fmla="val 7894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 value"/>
          <p:cNvSpPr txBox="1"/>
          <p:nvPr/>
        </p:nvSpPr>
        <p:spPr>
          <a:xfrm>
            <a:off x="4104000" y="4176000"/>
            <a:ext cx="2664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lang="en-US">
                <a:solidFill>
                  <a:srgbClr val="0B1B2B"/>
                </a:solidFill>
                <a:latin typeface="Segoe UI Semibold"/>
              </a:rPr>
              <a:t>13 MP built-in</a:t>
            </a:r>
          </a:p>
        </p:txBody>
      </p:sp>
      <p:sp>
        <p:nvSpPr>
          <p:cNvPr id="33" name="Card note"/>
          <p:cNvSpPr txBox="1"/>
          <p:nvPr/>
        </p:nvSpPr>
        <p:spPr>
          <a:xfrm>
            <a:off x="4104000" y="4572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lang="en-US">
                <a:solidFill>
                  <a:srgbClr val="566270"/>
                </a:solidFill>
                <a:latin typeface="Segoe UI"/>
              </a:rPr>
              <a:t>Integrated in the frame</a:t>
            </a:r>
          </a:p>
        </p:txBody>
      </p:sp>
      <p:sp>
        <p:nvSpPr>
          <p:cNvPr id="34" name="Chip HS"/>
          <p:cNvSpPr/>
          <p:nvPr/>
        </p:nvSpPr>
        <p:spPr>
          <a:xfrm>
            <a:off x="4104000" y="4860000"/>
            <a:ext cx="37815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HS</a:t>
            </a:r>
          </a:p>
        </p:txBody>
      </p:sp>
      <p:sp>
        <p:nvSpPr>
          <p:cNvPr id="35" name="Chip HP"/>
          <p:cNvSpPr/>
          <p:nvPr/>
        </p:nvSpPr>
        <p:spPr>
          <a:xfrm>
            <a:off x="4546954" y="4860000"/>
            <a:ext cx="38322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HP</a:t>
            </a:r>
          </a:p>
        </p:txBody>
      </p:sp>
      <p:sp>
        <p:nvSpPr>
          <p:cNvPr id="36" name="Chip HL"/>
          <p:cNvSpPr/>
          <p:nvPr/>
        </p:nvSpPr>
        <p:spPr>
          <a:xfrm>
            <a:off x="4994974" y="4860000"/>
            <a:ext cx="37118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HL</a:t>
            </a:r>
          </a:p>
        </p:txBody>
      </p:sp>
      <p:sp>
        <p:nvSpPr>
          <p:cNvPr id="37" name="Chip HS 2-in-1"/>
          <p:cNvSpPr/>
          <p:nvPr/>
        </p:nvSpPr>
        <p:spPr>
          <a:xfrm>
            <a:off x="5430961" y="4860000"/>
            <a:ext cx="7423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lang="en-US">
                <a:solidFill>
                  <a:srgbClr val="1B2733"/>
                </a:solidFill>
                <a:latin typeface="Segoe UI Semibold"/>
              </a:rPr>
              <a:t>HS 2-in-1</a:t>
            </a:r>
          </a:p>
        </p:txBody>
      </p:sp>
      <p:sp>
        <p:nvSpPr>
          <p:cNvPr id="38" name="Label"/>
          <p:cNvSpPr txBox="1"/>
          <p:nvPr/>
        </p:nvSpPr>
        <p:spPr>
          <a:xfrm>
            <a:off x="576000" y="56880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Stand movement  ·  HY, HK, HS, HP, HS 2-in-1</a:t>
            </a:r>
          </a:p>
        </p:txBody>
      </p:sp>
      <p:sp>
        <p:nvSpPr>
          <p:cNvPr id="39" name="Figure tile"/>
          <p:cNvSpPr/>
          <p:nvPr/>
        </p:nvSpPr>
        <p:spPr>
          <a:xfrm>
            <a:off x="576000" y="5904000"/>
            <a:ext cx="3096000" cy="108000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igure"/>
          <p:cNvSpPr txBox="1"/>
          <p:nvPr/>
        </p:nvSpPr>
        <p:spPr>
          <a:xfrm>
            <a:off x="792000" y="6012000"/>
            <a:ext cx="2664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lang="en-US">
                <a:solidFill>
                  <a:srgbClr val="09678F"/>
                </a:solidFill>
                <a:latin typeface="Segoe UI Semibold"/>
              </a:rPr>
              <a:t>±25°</a:t>
            </a:r>
          </a:p>
        </p:txBody>
      </p:sp>
      <p:sp>
        <p:nvSpPr>
          <p:cNvPr id="41" name="Figure note"/>
          <p:cNvSpPr txBox="1"/>
          <p:nvPr/>
        </p:nvSpPr>
        <p:spPr>
          <a:xfrm>
            <a:off x="792000" y="6624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Tilt, forward and back</a:t>
            </a:r>
          </a:p>
        </p:txBody>
      </p:sp>
      <p:sp>
        <p:nvSpPr>
          <p:cNvPr id="42" name="Figure tile"/>
          <p:cNvSpPr/>
          <p:nvPr/>
        </p:nvSpPr>
        <p:spPr>
          <a:xfrm>
            <a:off x="3888000" y="5904000"/>
            <a:ext cx="3096000" cy="108000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igure"/>
          <p:cNvSpPr txBox="1"/>
          <p:nvPr/>
        </p:nvSpPr>
        <p:spPr>
          <a:xfrm>
            <a:off x="4104000" y="6012000"/>
            <a:ext cx="2664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lang="en-US">
                <a:solidFill>
                  <a:srgbClr val="09678F"/>
                </a:solidFill>
                <a:latin typeface="Segoe UI Semibold"/>
              </a:rPr>
              <a:t>±90°</a:t>
            </a:r>
          </a:p>
        </p:txBody>
      </p:sp>
      <p:sp>
        <p:nvSpPr>
          <p:cNvPr id="44" name="Figure note"/>
          <p:cNvSpPr txBox="1"/>
          <p:nvPr/>
        </p:nvSpPr>
        <p:spPr>
          <a:xfrm>
            <a:off x="4104000" y="6624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lang="en-US">
                <a:solidFill>
                  <a:srgbClr val="1B2733"/>
                </a:solidFill>
                <a:latin typeface="Segoe UI"/>
              </a:rPr>
              <a:t>Rotation, portrait to landscape</a:t>
            </a:r>
          </a:p>
        </p:txBody>
      </p:sp>
      <p:sp>
        <p:nvSpPr>
          <p:cNvPr id="45" name="Rule"/>
          <p:cNvSpPr/>
          <p:nvPr/>
        </p:nvSpPr>
        <p:spPr>
          <a:xfrm>
            <a:off x="576000" y="7416000"/>
            <a:ext cx="202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pec label"/>
          <p:cNvSpPr txBox="1"/>
          <p:nvPr/>
        </p:nvSpPr>
        <p:spPr>
          <a:xfrm>
            <a:off x="576000" y="7531200"/>
            <a:ext cx="202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Connectivity</a:t>
            </a:r>
          </a:p>
        </p:txBody>
      </p:sp>
      <p:sp>
        <p:nvSpPr>
          <p:cNvPr id="47" name="Spec value"/>
          <p:cNvSpPr txBox="1"/>
          <p:nvPr/>
        </p:nvSpPr>
        <p:spPr>
          <a:xfrm>
            <a:off x="576000" y="7740000"/>
            <a:ext cx="2028000" cy="2488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200" b="0" lang="en-US">
                <a:solidFill>
                  <a:srgbClr val="1B2733"/>
                </a:solidFill>
                <a:latin typeface="Segoe UI Semibold"/>
              </a:rPr>
              <a:t>Wi-Fi · Bluetooth</a:t>
            </a:r>
          </a:p>
        </p:txBody>
      </p:sp>
      <p:sp>
        <p:nvSpPr>
          <p:cNvPr id="48" name="Rule"/>
          <p:cNvSpPr/>
          <p:nvPr/>
        </p:nvSpPr>
        <p:spPr>
          <a:xfrm>
            <a:off x="2766000" y="7416000"/>
            <a:ext cx="202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pec label"/>
          <p:cNvSpPr txBox="1"/>
          <p:nvPr/>
        </p:nvSpPr>
        <p:spPr>
          <a:xfrm>
            <a:off x="2766000" y="7531200"/>
            <a:ext cx="202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Ports</a:t>
            </a:r>
          </a:p>
        </p:txBody>
      </p:sp>
      <p:sp>
        <p:nvSpPr>
          <p:cNvPr id="50" name="Spec value"/>
          <p:cNvSpPr txBox="1"/>
          <p:nvPr/>
        </p:nvSpPr>
        <p:spPr>
          <a:xfrm>
            <a:off x="2766000" y="7740000"/>
            <a:ext cx="2028000" cy="4616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200" b="0" lang="en-US">
                <a:solidFill>
                  <a:srgbClr val="1B2733"/>
                </a:solidFill>
                <a:latin typeface="Segoe UI Semibold"/>
              </a:rPr>
              <a:t>HDMI in · Type-C · 3.5 mm audio</a:t>
            </a:r>
          </a:p>
        </p:txBody>
      </p:sp>
      <p:sp>
        <p:nvSpPr>
          <p:cNvPr id="51" name="Rule"/>
          <p:cNvSpPr/>
          <p:nvPr/>
        </p:nvSpPr>
        <p:spPr>
          <a:xfrm>
            <a:off x="4956000" y="7416000"/>
            <a:ext cx="202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pec label"/>
          <p:cNvSpPr txBox="1"/>
          <p:nvPr/>
        </p:nvSpPr>
        <p:spPr>
          <a:xfrm>
            <a:off x="4956000" y="7531200"/>
            <a:ext cx="202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Carry bag</a:t>
            </a:r>
          </a:p>
        </p:txBody>
      </p:sp>
      <p:sp>
        <p:nvSpPr>
          <p:cNvPr id="53" name="Spec value"/>
          <p:cNvSpPr txBox="1"/>
          <p:nvPr/>
        </p:nvSpPr>
        <p:spPr>
          <a:xfrm>
            <a:off x="4956000" y="7740000"/>
            <a:ext cx="2028000" cy="4616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200" b="0" lang="en-US">
                <a:solidFill>
                  <a:srgbClr val="1B2733"/>
                </a:solidFill>
                <a:latin typeface="Segoe UI Semibold"/>
              </a:rPr>
              <a:t>Optional for HS; custom logo on bulk orders</a:t>
            </a:r>
          </a:p>
        </p:txBody>
      </p:sp>
      <p:sp>
        <p:nvSpPr>
          <p:cNvPr id="54" name="Rule"/>
          <p:cNvSpPr/>
          <p:nvPr/>
        </p:nvSpPr>
        <p:spPr>
          <a:xfrm>
            <a:off x="576000" y="8568000"/>
            <a:ext cx="3123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pec label"/>
          <p:cNvSpPr txBox="1"/>
          <p:nvPr/>
        </p:nvSpPr>
        <p:spPr>
          <a:xfrm>
            <a:off x="576000" y="8683200"/>
            <a:ext cx="3123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Packaging</a:t>
            </a:r>
          </a:p>
        </p:txBody>
      </p:sp>
      <p:sp>
        <p:nvSpPr>
          <p:cNvPr id="56" name="Spec value"/>
          <p:cNvSpPr txBox="1"/>
          <p:nvPr/>
        </p:nvSpPr>
        <p:spPr>
          <a:xfrm>
            <a:off x="576000" y="8892000"/>
            <a:ext cx="3123000" cy="2488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200" b="0" lang="en-US">
                <a:solidFill>
                  <a:srgbClr val="1B2733"/>
                </a:solidFill>
                <a:latin typeface="Segoe UI Semibold"/>
              </a:rPr>
              <a:t>PE bag, rigid carton, high-density foam</a:t>
            </a:r>
          </a:p>
        </p:txBody>
      </p:sp>
      <p:sp>
        <p:nvSpPr>
          <p:cNvPr id="57" name="Rule"/>
          <p:cNvSpPr/>
          <p:nvPr/>
        </p:nvSpPr>
        <p:spPr>
          <a:xfrm>
            <a:off x="3861000" y="8568000"/>
            <a:ext cx="3123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pec label"/>
          <p:cNvSpPr txBox="1"/>
          <p:nvPr/>
        </p:nvSpPr>
        <p:spPr>
          <a:xfrm>
            <a:off x="3861000" y="8683200"/>
            <a:ext cx="3123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Bulk orders</a:t>
            </a:r>
          </a:p>
        </p:txBody>
      </p:sp>
      <p:sp>
        <p:nvSpPr>
          <p:cNvPr id="59" name="Spec value"/>
          <p:cNvSpPr txBox="1"/>
          <p:nvPr/>
        </p:nvSpPr>
        <p:spPr>
          <a:xfrm>
            <a:off x="3861000" y="8892000"/>
            <a:ext cx="3123000" cy="2488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200" b="0" lang="en-US">
                <a:solidFill>
                  <a:srgbClr val="1B2733"/>
                </a:solidFill>
                <a:latin typeface="Segoe UI Semibold"/>
              </a:rPr>
              <a:t>Shipped in full cartons or pallets</a:t>
            </a:r>
          </a:p>
        </p:txBody>
      </p:sp>
      <p:sp>
        <p:nvSpPr>
          <p:cNvPr id="60" name="Rule"/>
          <p:cNvSpPr/>
          <p:nvPr/>
        </p:nvSpPr>
        <p:spPr>
          <a:xfrm>
            <a:off x="576000" y="9432000"/>
            <a:ext cx="6408000" cy="10800"/>
          </a:xfrm>
          <a:prstGeom prst="rect">
            <a:avLst/>
          </a:prstGeom>
          <a:solidFill>
            <a:srgbClr val="D3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pec label"/>
          <p:cNvSpPr txBox="1"/>
          <p:nvPr/>
        </p:nvSpPr>
        <p:spPr>
          <a:xfrm>
            <a:off x="576000" y="9547200"/>
            <a:ext cx="6408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lang="en-US" spc="100" cap="all">
                <a:solidFill>
                  <a:srgbClr val="09678F"/>
                </a:solidFill>
                <a:latin typeface="Segoe UI Semibold"/>
              </a:rPr>
              <a:t>HS 2-in-1 shipping</a:t>
            </a:r>
          </a:p>
        </p:txBody>
      </p:sp>
      <p:sp>
        <p:nvSpPr>
          <p:cNvPr id="62" name="Spec value"/>
          <p:cNvSpPr txBox="1"/>
          <p:nvPr/>
        </p:nvSpPr>
        <p:spPr>
          <a:xfrm>
            <a:off x="576000" y="9756000"/>
            <a:ext cx="6408000" cy="2488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200" b="0" lang="en-US">
                <a:solidFill>
                  <a:srgbClr val="1B2733"/>
                </a:solidFill>
                <a:latin typeface="Segoe UI Semibold"/>
              </a:rPr>
              <a:t>Detachable, flat-packed design: smaller cartons, lower freight, more units per container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09678F"/>
                </a:solidFill>
                <a:latin typeface="Segoe UI Semibold"/>
              </a:rPr>
              <a:t>Manufacturing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566270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0B1B2B"/>
                </a:solidFill>
                <a:latin typeface="Segoe UI Semibold"/>
              </a:rPr>
              <a:t>19</a:t>
            </a:fld>
            <a:endParaRPr lang="en-US" sz="900">
              <a:solidFill>
                <a:srgbClr val="0B1B2B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000" b="0">
                <a:solidFill>
                  <a:srgbClr val="0B1B2B"/>
                </a:solidFill>
                <a:latin typeface="Segoe UI Semibold"/>
              </a:rPr>
              <a:t>Factory &amp; Production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576000" y="1332000"/>
            <a:ext cx="6408000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200" b="0">
                <a:solidFill>
                  <a:srgbClr val="1B2733"/>
                </a:solidFill>
                <a:latin typeface="Segoe UI"/>
              </a:rPr>
              <a:t>Our own industrial and factory area in Shenzhen and Dongguan covers 40,000 square meters. The company is expanding its business and plans to build a new factory area in Zhongshan.</a:t>
            </a:r>
          </a:p>
        </p:txBody>
      </p:sp>
      <p:pic>
        <p:nvPicPr>
          <p:cNvPr id="8" name="Factory floor with smartboards on racks" descr="Factory floor with smartboards on rack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00" y="2232000"/>
            <a:ext cx="3114000" cy="4152000"/>
          </a:xfrm>
          <a:prstGeom prst="roundRect">
            <a:avLst>
              <a:gd name="adj" fmla="val 3468"/>
            </a:avLst>
          </a:prstGeom>
        </p:spPr>
      </p:pic>
      <p:sp>
        <p:nvSpPr>
          <p:cNvPr id="9" name="Chip Factory"/>
          <p:cNvSpPr/>
          <p:nvPr/>
        </p:nvSpPr>
        <p:spPr>
          <a:xfrm>
            <a:off x="720000" y="5916000"/>
            <a:ext cx="782358" cy="30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0B1B2B"/>
                </a:solidFill>
                <a:latin typeface="Segoe UI Semibold"/>
              </a:rPr>
              <a:t>Factory</a:t>
            </a:r>
          </a:p>
        </p:txBody>
      </p:sp>
      <p:pic>
        <p:nvPicPr>
          <p:cNvPr id="10" name="Assembly line with a technician" descr="Assembly line with a technician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70000" y="2232000"/>
            <a:ext cx="3114000" cy="4152000"/>
          </a:xfrm>
          <a:prstGeom prst="roundRect">
            <a:avLst>
              <a:gd name="adj" fmla="val 3468"/>
            </a:avLst>
          </a:prstGeom>
        </p:spPr>
      </p:pic>
      <p:sp>
        <p:nvSpPr>
          <p:cNvPr id="11" name="Chip Assembly Line"/>
          <p:cNvSpPr/>
          <p:nvPr/>
        </p:nvSpPr>
        <p:spPr>
          <a:xfrm>
            <a:off x="4014000" y="5916000"/>
            <a:ext cx="1221313" cy="30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0B1B2B"/>
                </a:solidFill>
                <a:latin typeface="Segoe UI Semibold"/>
              </a:rPr>
              <a:t>Assembly Line</a:t>
            </a:r>
          </a:p>
        </p:txBody>
      </p:sp>
      <p:pic>
        <p:nvPicPr>
          <p:cNvPr id="12" name="Warehouse with packed smartboards" descr="Warehouse with packed smartboards"/>
          <p:cNvPicPr>
            <a:picLocks noChangeAspect="1"/>
          </p:cNvPicPr>
          <p:nvPr/>
        </p:nvPicPr>
        <p:blipFill>
          <a:blip r:embed="rId4"/>
          <a:srcRect t="21142" b="12958"/>
          <a:stretch>
            <a:fillRect/>
          </a:stretch>
        </p:blipFill>
        <p:spPr>
          <a:xfrm>
            <a:off x="576000" y="6588000"/>
            <a:ext cx="6408000" cy="3168000"/>
          </a:xfrm>
          <a:prstGeom prst="roundRect">
            <a:avLst>
              <a:gd name="adj" fmla="val 3409"/>
            </a:avLst>
          </a:prstGeom>
        </p:spPr>
      </p:pic>
      <p:sp>
        <p:nvSpPr>
          <p:cNvPr id="13" name="Chip Warehouse"/>
          <p:cNvSpPr/>
          <p:nvPr/>
        </p:nvSpPr>
        <p:spPr>
          <a:xfrm>
            <a:off x="720000" y="9288000"/>
            <a:ext cx="1031480" cy="30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50" b="0">
                <a:solidFill>
                  <a:srgbClr val="0B1B2B"/>
                </a:solidFill>
                <a:latin typeface="Segoe UI Semibold"/>
              </a:rPr>
              <a:t>Warehouse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 header"/>
          <p:cNvSpPr txBox="1"/>
          <p:nvPr/>
        </p:nvSpPr>
        <p:spPr>
          <a:xfrm>
            <a:off x="576000" y="3312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B4C2D1"/>
                </a:solidFill>
                <a:latin typeface="Segoe UI Semibold"/>
              </a:rPr>
              <a:t>Shenzhen Xingyicheng Technology Co., Ltd.</a:t>
            </a:r>
          </a:p>
        </p:txBody>
      </p:sp>
      <p:sp>
        <p:nvSpPr>
          <p:cNvPr id="3" name="Section label"/>
          <p:cNvSpPr txBox="1"/>
          <p:nvPr/>
        </p:nvSpPr>
        <p:spPr>
          <a:xfrm>
            <a:off x="3960000" y="331200"/>
            <a:ext cx="3024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6CC8EC"/>
                </a:solidFill>
                <a:latin typeface="Segoe UI Semibold"/>
              </a:rPr>
              <a:t>Contact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76000" y="10310400"/>
            <a:ext cx="3600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750" b="0" cap="all" spc="90">
                <a:solidFill>
                  <a:srgbClr val="B4C2D1"/>
                </a:solidFill>
                <a:latin typeface="Segoe UI Semibold"/>
              </a:rPr>
              <a:t>Product Catalog 2026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5904000" y="10296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B6F15528-21DE-4FAA-801E-634DDDAF4B2B}" type="slidenum">
              <a:rPr lang="en-US" sz="900">
                <a:solidFill>
                  <a:srgbClr val="FFFFFF"/>
                </a:solidFill>
                <a:latin typeface="Segoe UI Semibold"/>
              </a:rPr>
              <a:t>20</a:t>
            </a:fld>
            <a:endParaRPr lang="en-US" sz="90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6" name="Page title"/>
          <p:cNvSpPr txBox="1"/>
          <p:nvPr/>
        </p:nvSpPr>
        <p:spPr>
          <a:xfrm>
            <a:off x="576000" y="720000"/>
            <a:ext cx="6408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200" b="0">
                <a:solidFill>
                  <a:srgbClr val="FFFFFF"/>
                </a:solidFill>
                <a:latin typeface="Segoe UI Semibold"/>
              </a:rPr>
              <a:t>Contact Information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576000" y="1404000"/>
            <a:ext cx="5400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200" b="0">
                <a:solidFill>
                  <a:srgbClr val="B4C2D1"/>
                </a:solidFill>
                <a:latin typeface="Segoe UI"/>
              </a:rPr>
              <a:t>We are here to assist you. Reach out to our team for product inquiries, partnership opportunities, or support. Our dedicated team is ready to provide the premium service you deserve.</a:t>
            </a:r>
          </a:p>
        </p:txBody>
      </p:sp>
      <p:sp>
        <p:nvSpPr>
          <p:cNvPr id="8" name="Rule"/>
          <p:cNvSpPr/>
          <p:nvPr/>
        </p:nvSpPr>
        <p:spPr>
          <a:xfrm>
            <a:off x="576000" y="3024000"/>
            <a:ext cx="3888000" cy="10800"/>
          </a:xfrm>
          <a:prstGeom prst="rect">
            <a:avLst/>
          </a:prstGeom>
          <a:solidFill>
            <a:srgbClr val="2B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abel"/>
          <p:cNvSpPr txBox="1"/>
          <p:nvPr/>
        </p:nvSpPr>
        <p:spPr>
          <a:xfrm>
            <a:off x="576000" y="3150000"/>
            <a:ext cx="388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Address</a:t>
            </a:r>
          </a:p>
        </p:txBody>
      </p:sp>
      <p:sp>
        <p:nvSpPr>
          <p:cNvPr id="10" name="Address"/>
          <p:cNvSpPr txBox="1"/>
          <p:nvPr/>
        </p:nvSpPr>
        <p:spPr>
          <a:xfrm>
            <a:off x="576000" y="3384000"/>
            <a:ext cx="3888000" cy="10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500" b="0">
                <a:solidFill>
                  <a:srgbClr val="FFFFFF"/>
                </a:solidFill>
                <a:latin typeface="Segoe UI Semibold"/>
              </a:rPr>
              <a:t>Room 203, Building B, No. 115 Guangqiao North Road, Xinqiang Community, Xinhu Street, Guangming District, Shenzhen</a:t>
            </a:r>
          </a:p>
        </p:txBody>
      </p:sp>
      <p:sp>
        <p:nvSpPr>
          <p:cNvPr id="11" name="Rule"/>
          <p:cNvSpPr/>
          <p:nvPr/>
        </p:nvSpPr>
        <p:spPr>
          <a:xfrm>
            <a:off x="576000" y="4680000"/>
            <a:ext cx="3888000" cy="10800"/>
          </a:xfrm>
          <a:prstGeom prst="rect">
            <a:avLst/>
          </a:prstGeom>
          <a:solidFill>
            <a:srgbClr val="2B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abel"/>
          <p:cNvSpPr txBox="1"/>
          <p:nvPr/>
        </p:nvSpPr>
        <p:spPr>
          <a:xfrm>
            <a:off x="576000" y="4806000"/>
            <a:ext cx="388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Phone</a:t>
            </a:r>
          </a:p>
        </p:txBody>
      </p:sp>
      <p:sp>
        <p:nvSpPr>
          <p:cNvPr id="13" name="Phone"/>
          <p:cNvSpPr txBox="1"/>
          <p:nvPr/>
        </p:nvSpPr>
        <p:spPr>
          <a:xfrm>
            <a:off x="576000" y="5040000"/>
            <a:ext cx="3888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1500" b="0" dirty="0">
                <a:solidFill>
                  <a:srgbClr val="FFFFFF"/>
                </a:solidFill>
                <a:latin typeface="Segoe UI Semibold"/>
              </a:rPr>
              <a:t>+86 188 2465 6358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Segoe UI Semibold"/>
              </a:rPr>
              <a:t>+86 136 3150 4323</a:t>
            </a:r>
            <a:endParaRPr lang="en-US" sz="1500" b="0" dirty="0">
              <a:solidFill>
                <a:srgbClr val="FFFFFF"/>
              </a:solidFill>
              <a:latin typeface="Segoe UI Semibold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1500" b="0" dirty="0">
                <a:solidFill>
                  <a:srgbClr val="FFFFFF"/>
                </a:solidFill>
                <a:latin typeface="Segoe UI Semibold"/>
              </a:rPr>
              <a:t>+86 199 2644 2018</a:t>
            </a:r>
          </a:p>
        </p:txBody>
      </p:sp>
      <p:sp>
        <p:nvSpPr>
          <p:cNvPr id="14" name="Rule"/>
          <p:cNvSpPr/>
          <p:nvPr/>
        </p:nvSpPr>
        <p:spPr>
          <a:xfrm>
            <a:off x="576000" y="6192000"/>
            <a:ext cx="3888000" cy="10800"/>
          </a:xfrm>
          <a:prstGeom prst="rect">
            <a:avLst/>
          </a:prstGeom>
          <a:solidFill>
            <a:srgbClr val="2B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abel"/>
          <p:cNvSpPr txBox="1"/>
          <p:nvPr/>
        </p:nvSpPr>
        <p:spPr>
          <a:xfrm>
            <a:off x="576000" y="6318000"/>
            <a:ext cx="388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Email</a:t>
            </a:r>
          </a:p>
        </p:txBody>
      </p:sp>
      <p:sp>
        <p:nvSpPr>
          <p:cNvPr id="16" name="Email"/>
          <p:cNvSpPr txBox="1"/>
          <p:nvPr/>
        </p:nvSpPr>
        <p:spPr>
          <a:xfrm>
            <a:off x="576000" y="6552000"/>
            <a:ext cx="3888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1500" b="0" dirty="0">
                <a:solidFill>
                  <a:srgbClr val="FFFFFF"/>
                </a:solidFill>
                <a:latin typeface="Segoe UI Semibold"/>
                <a:hlinkClick r:id="rId2"/>
              </a:rPr>
              <a:t>Admin@xyc-ltd.com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Segoe UI Semibold"/>
                <a:hlinkClick r:id="rId3"/>
              </a:rPr>
              <a:t>lzz@xyc-ltd.com 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500" b="0" dirty="0">
                <a:solidFill>
                  <a:srgbClr val="FFFFFF"/>
                </a:solidFill>
                <a:latin typeface="Segoe UI Semibold"/>
                <a:hlinkClick r:id="rId3"/>
              </a:rPr>
              <a:t>Antony@xyc-ltd.com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lang="en-US" sz="1500" b="0" dirty="0">
              <a:solidFill>
                <a:srgbClr val="FFFFFF"/>
              </a:solidFill>
              <a:latin typeface="Segoe UI Semibold"/>
              <a:hlinkClick r:id="rId3"/>
            </a:endParaRPr>
          </a:p>
        </p:txBody>
      </p:sp>
      <p:sp>
        <p:nvSpPr>
          <p:cNvPr id="17" name="Rule"/>
          <p:cNvSpPr/>
          <p:nvPr/>
        </p:nvSpPr>
        <p:spPr>
          <a:xfrm>
            <a:off x="576000" y="7704000"/>
            <a:ext cx="3888000" cy="10800"/>
          </a:xfrm>
          <a:prstGeom prst="rect">
            <a:avLst/>
          </a:prstGeom>
          <a:solidFill>
            <a:srgbClr val="2B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abel"/>
          <p:cNvSpPr txBox="1"/>
          <p:nvPr/>
        </p:nvSpPr>
        <p:spPr>
          <a:xfrm>
            <a:off x="576000" y="7830000"/>
            <a:ext cx="388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Website</a:t>
            </a:r>
          </a:p>
        </p:txBody>
      </p:sp>
      <p:sp>
        <p:nvSpPr>
          <p:cNvPr id="19" name="Website"/>
          <p:cNvSpPr txBox="1"/>
          <p:nvPr/>
        </p:nvSpPr>
        <p:spPr>
          <a:xfrm>
            <a:off x="576000" y="8064000"/>
            <a:ext cx="6408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500" b="0">
                <a:solidFill>
                  <a:srgbClr val="FFFFFF"/>
                </a:solidFill>
                <a:latin typeface="Segoe UI Semibold"/>
                <a:hlinkClick r:id="rId4"/>
              </a:rPr>
              <a:t>https://www.interactiveswhiteboard.com/</a:t>
            </a:r>
          </a:p>
        </p:txBody>
      </p:sp>
      <p:pic>
        <p:nvPicPr>
          <p:cNvPr id="20" name="WhatsApp business account QR code: Xingyicheng shenzhen" descr="WhatsApp business account QR code: Xingyicheng shenzh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000" y="3168000"/>
            <a:ext cx="2088000" cy="2333070"/>
          </a:xfrm>
          <a:prstGeom prst="roundRect">
            <a:avLst>
              <a:gd name="adj" fmla="val 5172"/>
            </a:avLst>
          </a:prstGeom>
        </p:spPr>
      </p:pic>
      <p:sp>
        <p:nvSpPr>
          <p:cNvPr id="21" name="Label"/>
          <p:cNvSpPr txBox="1"/>
          <p:nvPr/>
        </p:nvSpPr>
        <p:spPr>
          <a:xfrm>
            <a:off x="4896000" y="5609070"/>
            <a:ext cx="2088000" cy="1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800" b="0" cap="all" spc="100">
                <a:solidFill>
                  <a:srgbClr val="6CC8EC"/>
                </a:solidFill>
                <a:latin typeface="Segoe UI Semibold"/>
              </a:rPr>
              <a:t>Scan for WhatsApp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B2733"/>
      </a:dk1>
      <a:lt1>
        <a:srgbClr val="FFFFFF"/>
      </a:lt1>
      <a:dk2>
        <a:srgbClr val="0B1B2B"/>
      </a:dk2>
      <a:lt2>
        <a:srgbClr val="E8EDF3"/>
      </a:lt2>
      <a:accent1>
        <a:srgbClr val="0E9BD6"/>
      </a:accent1>
      <a:accent2>
        <a:srgbClr val="09678F"/>
      </a:accent2>
      <a:accent3>
        <a:srgbClr val="16314B"/>
      </a:accent3>
      <a:accent4>
        <a:srgbClr val="566270"/>
      </a:accent4>
      <a:accent5>
        <a:srgbClr val="6CC8EC"/>
      </a:accent5>
      <a:accent6>
        <a:srgbClr val="B4C2D1"/>
      </a:accent6>
      <a:hlink>
        <a:srgbClr val="6CC8EC"/>
      </a:hlink>
      <a:folHlink>
        <a:srgbClr val="B4C2D1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2124</Words>
  <Application>Microsoft Office PowerPoint</Application>
  <PresentationFormat>Custom</PresentationFormat>
  <Paragraphs>443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Shenzhen Xingyicheng Technology Co., Ltd. - Product Catalog 2026</dc:title>
  <dc:subject>Product Catalog 2026</dc:subject>
  <dc:creator>Shenzhen Xingyicheng Technology Co., Ltd.</dc:creator>
  <cp:keywords/>
  <dc:description/>
  <cp:lastModifiedBy>Fazle Rabbi Shuvo</cp:lastModifiedBy>
  <cp:revision>2</cp:revision>
  <dcterms:created xsi:type="dcterms:W3CDTF">2013-01-27T09:14:16Z</dcterms:created>
  <dcterms:modified xsi:type="dcterms:W3CDTF">2026-09-23T03:46:20Z</dcterms:modified>
  <cp:category/>
</cp:coreProperties>
</file>